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200" dirty="0">
                <a:latin typeface="Arial "/>
              </a:rPr>
              <a:t>JSON Comparison Tools </a:t>
            </a:r>
            <a:r>
              <a:rPr lang="en-US" sz="4200" dirty="0">
                <a:latin typeface="Arial "/>
              </a:rPr>
              <a:t>-</a:t>
            </a:r>
            <a:r>
              <a:rPr sz="4200" dirty="0">
                <a:latin typeface="Arial "/>
              </a:rPr>
              <a:t>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dirty="0"/>
              <a:t>Comprehensive landscape of tools for comparing JSON datasets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dirty="0"/>
              <a:t>Covers Online, IDE, CLI, Enterprise, and Large‑File solutions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dirty="0"/>
              <a:t>Useful for APIs, configs, data validation, SDTM/dataset‑JSON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200" dirty="0">
                <a:latin typeface="Arial "/>
              </a:rPr>
              <a:t>Online Visual Comparison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dirty="0"/>
              <a:t> JSON Editor Online </a:t>
            </a:r>
            <a:r>
              <a:rPr lang="en-US" dirty="0"/>
              <a:t>:</a:t>
            </a:r>
            <a:r>
              <a:rPr dirty="0"/>
              <a:t> </a:t>
            </a:r>
            <a:r>
              <a:rPr sz="2600" dirty="0">
                <a:latin typeface="Arial "/>
                <a:cs typeface="Arial" panose="020B0604020202020204" pitchFamily="34" charset="0"/>
              </a:rPr>
              <a:t>Smart array‑aware diff (detects moved items)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 Data Formatter Pro </a:t>
            </a:r>
            <a:r>
              <a:rPr lang="en-US" dirty="0"/>
              <a:t>:</a:t>
            </a:r>
            <a:r>
              <a:rPr dirty="0"/>
              <a:t> </a:t>
            </a:r>
            <a:r>
              <a:rPr sz="2600" dirty="0">
                <a:latin typeface="Arial "/>
                <a:cs typeface="Arial" panose="020B0604020202020204" pitchFamily="34" charset="0"/>
              </a:rPr>
              <a:t>Multiple views + ignore array order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 err="1"/>
              <a:t>HyperTest</a:t>
            </a:r>
            <a:r>
              <a:rPr dirty="0"/>
              <a:t> </a:t>
            </a:r>
            <a:r>
              <a:rPr lang="en-US" dirty="0"/>
              <a:t>:</a:t>
            </a:r>
            <a:r>
              <a:rPr dirty="0"/>
              <a:t> </a:t>
            </a:r>
            <a:r>
              <a:rPr sz="2600" dirty="0">
                <a:latin typeface="Arial "/>
                <a:cs typeface="Arial" panose="020B0604020202020204" pitchFamily="34" charset="0"/>
              </a:rPr>
              <a:t>Path‑based, structural vs value diff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JSONDiff.com </a:t>
            </a:r>
            <a:r>
              <a:rPr lang="en-US" dirty="0"/>
              <a:t>:</a:t>
            </a:r>
            <a:r>
              <a:rPr dirty="0"/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Lightweight, RFC 6902 patch output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 err="1"/>
              <a:t>Diffchecker</a:t>
            </a:r>
            <a:r>
              <a:rPr dirty="0"/>
              <a:t> </a:t>
            </a:r>
            <a:r>
              <a:rPr lang="en-US" dirty="0"/>
              <a:t>:</a:t>
            </a:r>
            <a:r>
              <a:rPr dirty="0"/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Simple text diff usable for JSON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Pros: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No install, quick checks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Cons: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Privacy risks, file size limits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200" dirty="0">
                <a:latin typeface="Arial "/>
              </a:rPr>
              <a:t>Developer &amp; IDE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VS Code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Built‑in diff + extensions (Sort &amp; Compare JSON)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JSON Crack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Graph visualization of JSON structure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Visual Studio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Compare Selected files feature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Notepad++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Compare / JSON Viewer plugins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Pros: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Integrated workflow, no context switching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Cons: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Often text‑based diff, limited semantics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200" dirty="0">
                <a:latin typeface="Arial" panose="020B0604020202020204" pitchFamily="34" charset="0"/>
                <a:cs typeface="Arial" panose="020B0604020202020204" pitchFamily="34" charset="0"/>
              </a:rPr>
              <a:t>Command‑Line &amp; Automation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dirty="0" err="1"/>
              <a:t>jq</a:t>
            </a:r>
            <a:r>
              <a:rPr dirty="0"/>
              <a:t> </a:t>
            </a:r>
            <a:r>
              <a:rPr lang="en-US" dirty="0"/>
              <a:t>:</a:t>
            </a:r>
            <a:r>
              <a:rPr sz="2400" dirty="0"/>
              <a:t>Industry standard JSON processor (sort keys before diff)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dirty="0" err="1"/>
              <a:t>jd</a:t>
            </a:r>
            <a:r>
              <a:rPr dirty="0"/>
              <a:t> (Go)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/>
              <a:t>Clean structural diff + patch support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dirty="0"/>
              <a:t>json-diff / </a:t>
            </a:r>
            <a:r>
              <a:rPr dirty="0" err="1"/>
              <a:t>jsondiffpatch</a:t>
            </a:r>
            <a:r>
              <a:rPr dirty="0"/>
              <a:t>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/>
              <a:t>Node.js tools with delta output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dirty="0"/>
              <a:t>Best for: </a:t>
            </a:r>
            <a:r>
              <a:rPr sz="2400" dirty="0"/>
              <a:t>Large datasets, CI/CD, reproducible pipelines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200" dirty="0">
                <a:latin typeface="Arial" panose="020B0604020202020204" pitchFamily="34" charset="0"/>
                <a:cs typeface="Arial" panose="020B0604020202020204" pitchFamily="34" charset="0"/>
              </a:rPr>
              <a:t>Programmatic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dirty="0" err="1"/>
              <a:t>DeepDiff</a:t>
            </a:r>
            <a:r>
              <a:rPr dirty="0"/>
              <a:t> (Python)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Deep comparison, ignores order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dirty="0" err="1"/>
              <a:t>jsondiffpatch</a:t>
            </a:r>
            <a:r>
              <a:rPr dirty="0"/>
              <a:t> (JS)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/>
              <a:t>Patch generation and object diff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dirty="0"/>
              <a:t>Java / Go </a:t>
            </a:r>
            <a:r>
              <a:rPr lang="en-US" dirty="0"/>
              <a:t>: </a:t>
            </a:r>
            <a:r>
              <a:rPr sz="2400" dirty="0"/>
              <a:t>libraries available for integration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dirty="0"/>
              <a:t>Best for: </a:t>
            </a:r>
            <a:r>
              <a:rPr sz="2400" dirty="0"/>
              <a:t>Validation systems, automated testing, ETL pipelines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200" dirty="0">
                <a:latin typeface="Arial" panose="020B0604020202020204" pitchFamily="34" charset="0"/>
                <a:cs typeface="Arial" panose="020B0604020202020204" pitchFamily="34" charset="0"/>
              </a:rPr>
              <a:t>Heavy‑Duty &amp; Large Dataset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dirty="0"/>
              <a:t>Beyond Compare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Enterprise standard, handles GB‑scale files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dirty="0"/>
              <a:t>Meld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Free, open source visual diff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dirty="0" err="1"/>
              <a:t>Araxis</a:t>
            </a:r>
            <a:r>
              <a:rPr dirty="0"/>
              <a:t> Merge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Premium, regulated industries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dirty="0"/>
              <a:t>JSON Swiss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Community‑recommended for huge files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dirty="0"/>
              <a:t>Best for: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Massive files and manual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200" dirty="0">
                <a:latin typeface="Arial" panose="020B0604020202020204" pitchFamily="34" charset="0"/>
                <a:cs typeface="Arial" panose="020B0604020202020204" pitchFamily="34" charset="0"/>
              </a:rPr>
              <a:t>Top 5 Best Overall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dirty="0"/>
              <a:t>Data Formatter Pro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Best all‑around free tool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dirty="0"/>
              <a:t>JSONDiff.com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Fast quick comparisons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dirty="0" err="1"/>
              <a:t>PlayCode</a:t>
            </a:r>
            <a:r>
              <a:rPr dirty="0"/>
              <a:t> JSON Diff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Merge + advanced workflows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dirty="0" err="1"/>
              <a:t>SemanticDiff</a:t>
            </a:r>
            <a:r>
              <a:rPr dirty="0"/>
              <a:t>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Ignores formatting differences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dirty="0" err="1"/>
              <a:t>JSONCompare</a:t>
            </a:r>
            <a:r>
              <a:rPr dirty="0"/>
              <a:t>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Simple reliable fallback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200" dirty="0">
                <a:latin typeface="Arial "/>
              </a:rPr>
              <a:t>Best Tools by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dirty="0"/>
              <a:t>Quick check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JSONDiff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SemanticDiff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dirty="0"/>
              <a:t>Very large files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Beyond Compare, Meld</a:t>
            </a:r>
          </a:p>
          <a:p>
            <a:pPr>
              <a:lnSpc>
                <a:spcPct val="150000"/>
              </a:lnSpc>
            </a:pPr>
            <a:r>
              <a:rPr dirty="0"/>
              <a:t>Automation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jq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+ diff,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DeepDiff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dirty="0"/>
              <a:t>Keys added/removed report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DeepDiff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jsondiffpatch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dirty="0"/>
              <a:t>Regulatory/audit </a:t>
            </a:r>
            <a:r>
              <a:rPr lang="en-US" dirty="0"/>
              <a:t>:</a:t>
            </a:r>
            <a:r>
              <a:rPr dirty="0"/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Beyond Compare +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DeepDiff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200" dirty="0">
                <a:latin typeface="Arial" panose="020B0604020202020204" pitchFamily="34" charset="0"/>
                <a:cs typeface="Arial" panose="020B0604020202020204" pitchFamily="34" charset="0"/>
              </a:rPr>
              <a:t>Free Tools (Top Picks)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dirty="0"/>
              <a:t>Data Formatter Pro</a:t>
            </a:r>
          </a:p>
          <a:p>
            <a:pPr>
              <a:lnSpc>
                <a:spcPct val="150000"/>
              </a:lnSpc>
            </a:pPr>
            <a:r>
              <a:rPr dirty="0"/>
              <a:t>JSONDiff.com</a:t>
            </a:r>
          </a:p>
          <a:p>
            <a:pPr>
              <a:lnSpc>
                <a:spcPct val="150000"/>
              </a:lnSpc>
            </a:pPr>
            <a:r>
              <a:rPr dirty="0" err="1"/>
              <a:t>PlayCode</a:t>
            </a:r>
            <a:r>
              <a:rPr dirty="0"/>
              <a:t> JSON Diff</a:t>
            </a:r>
          </a:p>
          <a:p>
            <a:pPr>
              <a:lnSpc>
                <a:spcPct val="150000"/>
              </a:lnSpc>
            </a:pPr>
            <a:r>
              <a:rPr dirty="0" err="1"/>
              <a:t>SemanticDiff</a:t>
            </a:r>
            <a:endParaRPr dirty="0"/>
          </a:p>
          <a:p>
            <a:pPr>
              <a:lnSpc>
                <a:spcPct val="150000"/>
              </a:lnSpc>
            </a:pPr>
            <a:r>
              <a:rPr dirty="0"/>
              <a:t>Meld (desktop)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200" dirty="0">
                <a:latin typeface="Arial" panose="020B0604020202020204" pitchFamily="34" charset="0"/>
                <a:cs typeface="Arial" panose="020B0604020202020204" pitchFamily="34" charset="0"/>
              </a:rPr>
              <a:t>Text Diff vs True JSON Diff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Text diff compares lines only</a:t>
            </a:r>
          </a:p>
          <a:p>
            <a:r>
              <a:rPr dirty="0"/>
              <a:t>JSON diff parses structure</a:t>
            </a:r>
          </a:p>
          <a:p>
            <a:endParaRPr dirty="0"/>
          </a:p>
          <a:p>
            <a:r>
              <a:rPr dirty="0"/>
              <a:t>JSON‑aware tools detect: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dirty="0"/>
              <a:t>Key additions/removals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dirty="0"/>
              <a:t>Value changes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dirty="0"/>
              <a:t>Nested differences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dirty="0"/>
              <a:t>Array differences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dirty="0"/>
              <a:t>Order‑independent equality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200" dirty="0">
                <a:latin typeface="Arial" panose="020B0604020202020204" pitchFamily="34" charset="0"/>
                <a:cs typeface="Arial" panose="020B0604020202020204" pitchFamily="34" charset="0"/>
              </a:rPr>
              <a:t>Enterprise / Regulated Environments (e.g., Pharma SDTM)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Recommended Stack: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/>
              <a:t>Beyond Compare — Manual review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 err="1"/>
              <a:t>DeepDiff</a:t>
            </a:r>
            <a:r>
              <a:rPr dirty="0"/>
              <a:t> — Automated validation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 err="1"/>
              <a:t>jq</a:t>
            </a:r>
            <a:r>
              <a:rPr dirty="0"/>
              <a:t> + diff — Reproducible pipelines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/>
              <a:t>Online tools — Quick exploratory checks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200" dirty="0"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r>
              <a:rPr dirty="0"/>
              <a:t>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dirty="0"/>
              <a:t>Normalize JSON (sort keys) before comparing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dirty="0"/>
              <a:t>Ignore non‑semantic differences (formatting, order)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dirty="0"/>
              <a:t>Use structural diff for nested data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dirty="0"/>
              <a:t>Combine manual review + automated checks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dirty="0"/>
              <a:t>Protect sensitive data when using online tools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715AB-B5F4-4F20-A286-46CB87AE5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47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JSON Compare Tools — Comparison Matrix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005470-BA8B-4FFF-A1B6-EB5C518450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0045133"/>
              </p:ext>
            </p:extLst>
          </p:nvPr>
        </p:nvGraphicFramePr>
        <p:xfrm>
          <a:off x="457200" y="2139156"/>
          <a:ext cx="8229600" cy="3448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62615038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062911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7156357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4462208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98747306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5115975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14892029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8714228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5197164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Tool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Type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Category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Structural Diff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Large Files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Automation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Offline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Support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Typical Use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08392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jq + diff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Vendor-Neutral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CLI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Excellent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Community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Pipelines, DevOps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25912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jd (Go)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Vendor-Neutral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CLI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Excellent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Community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Snapshot testing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96888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jsondiffpatch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Vendor-Neutral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Library/CLI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Excellent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Community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App integration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79487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DeepDiff (Python)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Vendor-Neutral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Library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Excellent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Community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Validation systems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5614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Meld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Vendor-Neutral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Desktop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Text-based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Good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Community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Manual review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54703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VS Code Diff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Vendor-Neutral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IDE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Text-based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Good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Limited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Community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Developer workflow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98612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PlayCode JSON Diff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Vendor-Neutral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Online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Limited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None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Quick checks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69982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JSONDiff.com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Vendor-Neutral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Online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Limited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None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Ad-hoc comparison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36417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Beyond Compare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Commercial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Desktop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Semi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Excellent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Limited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Enterprise review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23475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Araxis Merge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Commercial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Desktop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Semi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Excellent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Regulated industries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98223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Altova XMLSpy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Commercial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IDE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Excellent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Limited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Data engineering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16098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Diffchecker Desktop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Commercial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Desktop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Text-based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Good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 dirty="0">
                          <a:effectLst/>
                        </a:rPr>
                        <a:t>General diff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7534632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E34A2E-EA41-4E97-8E44-C8519C202600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958181"/>
          <a:ext cx="8229600" cy="381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60818335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4850355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8860197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4610866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408296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5762912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973319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6923612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1054825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Tool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Category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Structural Diff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Handles Large Files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Ignore Order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Patch Output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Automation Ready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Offline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Cost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76707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Data Formatter Pro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Online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Limited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Free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99613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JSONDiff.com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Online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Limited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Free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69179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PlayCode JSON Diff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Online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Limited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Free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95886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SemanticDiff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Online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Limited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Free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7200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JSON Editor Online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Online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Moderate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Partial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Free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148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Beyond Compare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Desktop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Semi-structural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Excellent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No*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Limited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Paid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44309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Meld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Desktop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Text-based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Good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Limited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Free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16807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Araxis Merge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Desktop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Semi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Excellent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Limited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Paid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52600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VS Code Diff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IDE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Text-based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Good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Limited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Free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74108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jq + diff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CLI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 (after normalize)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Excellent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Free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1797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jd (Go)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CLI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Excellent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Free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92962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jsondiffpatch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CLI/Library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Excellent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Free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8156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DeepDiff (Python)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Library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Excellent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Optional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Free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81796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JSON Crack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Visual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Visualization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Moderate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Free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98469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JSON Swiss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Desktop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Semi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Very Large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 dirty="0">
                          <a:effectLst/>
                        </a:rPr>
                        <a:t>Free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4557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774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715AB-B5F4-4F20-A286-46CB87AE5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altLang="en-US" sz="4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Comparison Matrix — Vendor-Neutral vs Commercial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005470-BA8B-4FFF-A1B6-EB5C5184509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139156"/>
          <a:ext cx="8229600" cy="3448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62615038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062911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7156357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4462208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98747306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5115975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14892029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8714228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5197164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Tool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Type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Category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Structural Diff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Large Files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Automation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Offline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Support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effectLst/>
                        </a:rPr>
                        <a:t>Typical Use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08392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jq + diff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Vendor-Neutral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CLI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Excellent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Community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Pipelines, DevOps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25912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jd (Go)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Vendor-Neutral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CLI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Excellent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Community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Snapshot testing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96888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jsondiffpatch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Vendor-Neutral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Library/CLI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Excellent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Community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App integration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79487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DeepDiff (Python)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Vendor-Neutral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Library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Excellent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Community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Validation systems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5614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Meld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Vendor-Neutral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Desktop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Text-based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Good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Community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Manual review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54703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VS Code Diff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Vendor-Neutral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 dirty="0">
                          <a:effectLst/>
                        </a:rPr>
                        <a:t>IDE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Text-based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Good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Limited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Community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Developer workflow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98612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PlayCode JSON Diff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Vendor-Neutral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Online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Limited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None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Quick checks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69982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JSONDiff.com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Vendor-Neutral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Online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Limited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None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Ad-hoc comparison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36417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Beyond Compare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Commercial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Desktop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Semi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Excellent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Limited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Enterprise review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23475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Araxis Merge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Commercial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Desktop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Semi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Excellent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Regulated industries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98223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Altova XMLSpy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Commercial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IDE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Excellent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Limited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Data engineering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16098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Diffchecker Desktop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Commercial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Desktop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Text-based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⚠️ Good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❌ 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Vendor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 dirty="0">
                          <a:effectLst/>
                        </a:rPr>
                        <a:t>General diff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75346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4588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9C473051513B4C8DC851580AAEE383" ma:contentTypeVersion="5" ma:contentTypeDescription="Create a new document." ma:contentTypeScope="" ma:versionID="2fb86f4a84e05e26d3d3cd30fd490e00">
  <xsd:schema xmlns:xsd="http://www.w3.org/2001/XMLSchema" xmlns:xs="http://www.w3.org/2001/XMLSchema" xmlns:p="http://schemas.microsoft.com/office/2006/metadata/properties" xmlns:ns3="537d352f-0ae5-4fce-8040-e28eacbdec8c" targetNamespace="http://schemas.microsoft.com/office/2006/metadata/properties" ma:root="true" ma:fieldsID="18590923f933304c23383e49175f00d5" ns3:_="">
    <xsd:import namespace="537d352f-0ae5-4fce-8040-e28eacbdec8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d352f-0ae5-4fce-8040-e28eacbdec8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37d352f-0ae5-4fce-8040-e28eacbdec8c" xsi:nil="true"/>
  </documentManagement>
</p:properties>
</file>

<file path=customXml/itemProps1.xml><?xml version="1.0" encoding="utf-8"?>
<ds:datastoreItem xmlns:ds="http://schemas.openxmlformats.org/officeDocument/2006/customXml" ds:itemID="{6CB52E5E-112D-4972-8C44-3EBC7C85C5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7d352f-0ae5-4fce-8040-e28eacbdec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DBAF828-2749-4025-BFB2-E61AD7CEA5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01DA1B-3843-4856-B163-B9F107103ABD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537d352f-0ae5-4fce-8040-e28eacbdec8c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1217</Words>
  <Application>Microsoft Office PowerPoint</Application>
  <PresentationFormat>On-screen Show (4:3)</PresentationFormat>
  <Paragraphs>455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</vt:lpstr>
      <vt:lpstr>Calibri</vt:lpstr>
      <vt:lpstr>Courier New</vt:lpstr>
      <vt:lpstr>Times New Roman</vt:lpstr>
      <vt:lpstr>Wingdings</vt:lpstr>
      <vt:lpstr>Office Theme</vt:lpstr>
      <vt:lpstr>JSON Comparison Tools - Overview</vt:lpstr>
      <vt:lpstr>Online Visual Comparison Tools</vt:lpstr>
      <vt:lpstr>Developer &amp; IDE Extensions</vt:lpstr>
      <vt:lpstr>Command‑Line &amp; Automation Tools</vt:lpstr>
      <vt:lpstr>Programmatic Libraries</vt:lpstr>
      <vt:lpstr>Heavy‑Duty &amp; Large Dataset Tools</vt:lpstr>
      <vt:lpstr>Top 5 Best Overall Tools</vt:lpstr>
      <vt:lpstr>Best Tools by Use Case</vt:lpstr>
      <vt:lpstr>Free Tools (Top Picks)</vt:lpstr>
      <vt:lpstr>Text Diff vs True JSON Diff</vt:lpstr>
      <vt:lpstr>Enterprise / Regulated Environments (e.g., Pharma SDTM)</vt:lpstr>
      <vt:lpstr>Best Practices</vt:lpstr>
      <vt:lpstr> JSON Compare Tools — Comparison Matrix </vt:lpstr>
      <vt:lpstr>Comparison Matrix — Vendor-Neutral vs Commercial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JSON Comparison Tools — Overview</dc:title>
  <dc:subject/>
  <dc:creator/>
  <cp:keywords/>
  <dc:description>generated using python-pptx</dc:description>
  <cp:lastModifiedBy>Ravinder Maramamula</cp:lastModifiedBy>
  <cp:revision>6</cp:revision>
  <dcterms:created xsi:type="dcterms:W3CDTF">2013-01-27T09:14:16Z</dcterms:created>
  <dcterms:modified xsi:type="dcterms:W3CDTF">2026-03-24T16:18:11Z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0x0101009D9C473051513B4C8DC851580AAEE383</vt:lpwstr>
  </property>
</Properties>
</file>