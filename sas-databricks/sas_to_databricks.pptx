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2" r:id="rId4"/>
  </p:sldMasterIdLst>
  <p:notesMasterIdLst>
    <p:notesMasterId r:id="rId18"/>
  </p:notesMasterIdLst>
  <p:handoutMasterIdLst>
    <p:handoutMasterId r:id="rId19"/>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ploading Data from SAS to Databricks" id="{480CE97E-C5B7-429B-94F2-92265ECA04A1}">
          <p14:sldIdLst>
            <p14:sldId id="2561"/>
          </p14:sldIdLst>
        </p14:section>
        <p14:section name="Overview" id="{ACE815C3-C498-4247-AFAC-13B31C538731}">
          <p14:sldIdLst>
            <p14:sldId id="2562"/>
            <p14:sldId id="2563"/>
          </p14:sldIdLst>
        </p14:section>
        <p14:section name="Data Format Comparison" id="{3D5AB1E6-C862-46D0-8971-532162297EB2}">
          <p14:sldIdLst>
            <p14:sldId id="2564"/>
            <p14:sldId id="2565"/>
          </p14:sldIdLst>
        </p14:section>
        <p14:section name="Storage Options in Databricks" id="{208FFCC7-EE58-4FCF-9C6F-112546CF3B60}">
          <p14:sldIdLst>
            <p14:sldId id="2566"/>
            <p14:sldId id="2567"/>
          </p14:sldIdLst>
        </p14:section>
        <p14:section name="Implementation Examples" id="{BFB7EC0E-A007-4577-BB9D-A7A07CDE4E39}">
          <p14:sldIdLst>
            <p14:sldId id="2568"/>
            <p14:sldId id="2569"/>
          </p14:sldIdLst>
        </p14:section>
        <p14:section name="Efficiency Considerations" id="{657C855C-25F0-4E26-8784-7215BBC9A9BA}">
          <p14:sldIdLst>
            <p14:sldId id="2570"/>
            <p14:sldId id="2571"/>
          </p14:sldIdLst>
        </p14:section>
        <p14:section name="Workflow Visualization" id="{7934353B-D721-425D-A9D4-B9F59B3D07D2}">
          <p14:sldIdLst>
            <p14:sldId id="2572"/>
            <p14:sldId id="257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C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56FB35-8ABA-4612-8B94-429F073D9175}" v="14" dt="2025-10-07T14:58:10.6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0"/>
  </p:normalViewPr>
  <p:slideViewPr>
    <p:cSldViewPr snapToGrid="0">
      <p:cViewPr>
        <p:scale>
          <a:sx n="100" d="100"/>
          <a:sy n="100" d="100"/>
        </p:scale>
        <p:origin x="58" y="-547"/>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D56FB35-8ABA-4612-8B94-429F073D9175}"/>
    <pc:docChg chg="addSld delSld modSld addSection">
      <pc:chgData name="" userId="" providerId="" clId="Web-{9D56FB35-8ABA-4612-8B94-429F073D9175}" dt="2025-10-07T14:58:10.698" v="14" actId="34807"/>
      <pc:docMkLst>
        <pc:docMk/>
      </pc:docMkLst>
      <pc:sldChg chg="del">
        <pc:chgData name="" userId="" providerId="" clId="Web-{9D56FB35-8ABA-4612-8B94-429F073D9175}" dt="2025-10-07T14:58:10.541" v="0" actId="34807"/>
        <pc:sldMkLst>
          <pc:docMk/>
          <pc:sldMk cId="2329614230" sldId="260"/>
        </pc:sldMkLst>
      </pc:sldChg>
      <pc:sldChg chg="modSp add mod modClrScheme addAnim chgLayout">
        <pc:chgData name="" userId="" providerId="" clId="Web-{9D56FB35-8ABA-4612-8B94-429F073D9175}" dt="2025-10-07T14:58:10.682" v="4" actId="34807"/>
        <pc:sldMkLst>
          <pc:docMk/>
          <pc:sldMk cId="927371394" sldId="2561"/>
        </pc:sldMkLst>
        <pc:spChg chg="mod">
          <ac:chgData name="" userId="" providerId="" clId="Web-{9D56FB35-8ABA-4612-8B94-429F073D9175}" dt="2025-10-07T14:58:10.682" v="1" actId="34807"/>
          <ac:spMkLst>
            <pc:docMk/>
            <pc:sldMk cId="927371394" sldId="2561"/>
            <ac:spMk id="2" creationId="{7EE3438C-FB3E-C0CB-45EC-F62B7C766EFE}"/>
          </ac:spMkLst>
        </pc:spChg>
        <pc:spChg chg="mod">
          <ac:chgData name="" userId="" providerId="" clId="Web-{9D56FB35-8ABA-4612-8B94-429F073D9175}" dt="2025-10-07T14:58:10.682" v="1" actId="34807"/>
          <ac:spMkLst>
            <pc:docMk/>
            <pc:sldMk cId="927371394" sldId="2561"/>
            <ac:spMk id="3" creationId="{16F0A074-5F1C-FBD0-41D7-E65FE6EDB7D8}"/>
          </ac:spMkLst>
        </pc:spChg>
        <pc:picChg chg="mod">
          <ac:chgData name="" userId="" providerId="" clId="Web-{9D56FB35-8ABA-4612-8B94-429F073D9175}" dt="2025-10-07T14:58:10.682" v="1" actId="34807"/>
          <ac:picMkLst>
            <pc:docMk/>
            <pc:sldMk cId="927371394" sldId="2561"/>
            <ac:picMk id="4" creationId="{A4CADBB9-30FA-4833-A2A4-0C6796D9688E}"/>
          </ac:picMkLst>
        </pc:picChg>
      </pc:sldChg>
      <pc:sldChg chg="modSp add mod modTransition addAnim chgLayout">
        <pc:chgData name="" userId="" providerId="" clId="Web-{9D56FB35-8ABA-4612-8B94-429F073D9175}" dt="2025-10-07T14:58:10.682" v="5" actId="34807"/>
        <pc:sldMkLst>
          <pc:docMk/>
          <pc:sldMk cId="2546828100" sldId="2562"/>
        </pc:sldMkLst>
        <pc:spChg chg="mod">
          <ac:chgData name="" userId="" providerId="" clId="Web-{9D56FB35-8ABA-4612-8B94-429F073D9175}" dt="2025-10-07T14:58:10.682" v="1" actId="34807"/>
          <ac:spMkLst>
            <pc:docMk/>
            <pc:sldMk cId="2546828100" sldId="2562"/>
            <ac:spMk id="2" creationId="{EB41D3C9-4CFE-F299-2417-239C3D0EB0A2}"/>
          </ac:spMkLst>
        </pc:spChg>
      </pc:sldChg>
      <pc:sldChg chg="modSp add mod modTransition modClrScheme addAnim chgLayout">
        <pc:chgData name="" userId="" providerId="" clId="Web-{9D56FB35-8ABA-4612-8B94-429F073D9175}" dt="2025-10-07T14:58:10.682" v="6" actId="34807"/>
        <pc:sldMkLst>
          <pc:docMk/>
          <pc:sldMk cId="1615142785" sldId="2563"/>
        </pc:sldMkLst>
        <pc:spChg chg="mod">
          <ac:chgData name="" userId="" providerId="" clId="Web-{9D56FB35-8ABA-4612-8B94-429F073D9175}" dt="2025-10-07T14:58:10.682" v="1" actId="34807"/>
          <ac:spMkLst>
            <pc:docMk/>
            <pc:sldMk cId="1615142785" sldId="2563"/>
            <ac:spMk id="2" creationId="{26D1DA29-7F41-BF1F-47C9-514BC9A91E30}"/>
          </ac:spMkLst>
        </pc:spChg>
        <pc:spChg chg="mod">
          <ac:chgData name="" userId="" providerId="" clId="Web-{9D56FB35-8ABA-4612-8B94-429F073D9175}" dt="2025-10-07T14:58:10.682" v="1" actId="34807"/>
          <ac:spMkLst>
            <pc:docMk/>
            <pc:sldMk cId="1615142785" sldId="2563"/>
            <ac:spMk id="4" creationId="{61C37450-DAD9-2B26-AE4E-EDD33AFD0A0F}"/>
          </ac:spMkLst>
        </pc:spChg>
        <pc:picChg chg="mod ord">
          <ac:chgData name="" userId="" providerId="" clId="Web-{9D56FB35-8ABA-4612-8B94-429F073D9175}" dt="2025-10-07T14:58:10.682" v="1" actId="34807"/>
          <ac:picMkLst>
            <pc:docMk/>
            <pc:sldMk cId="1615142785" sldId="2563"/>
            <ac:picMk id="5" creationId="{6CC76B23-3247-47F6-B8A7-9CF1792DD589}"/>
          </ac:picMkLst>
        </pc:picChg>
      </pc:sldChg>
      <pc:sldChg chg="modSp add mod modTransition addAnim chgLayout">
        <pc:chgData name="" userId="" providerId="" clId="Web-{9D56FB35-8ABA-4612-8B94-429F073D9175}" dt="2025-10-07T14:58:10.682" v="7" actId="34807"/>
        <pc:sldMkLst>
          <pc:docMk/>
          <pc:sldMk cId="109304802" sldId="2564"/>
        </pc:sldMkLst>
        <pc:spChg chg="mod">
          <ac:chgData name="" userId="" providerId="" clId="Web-{9D56FB35-8ABA-4612-8B94-429F073D9175}" dt="2025-10-07T14:58:10.682" v="1" actId="34807"/>
          <ac:spMkLst>
            <pc:docMk/>
            <pc:sldMk cId="109304802" sldId="2564"/>
            <ac:spMk id="2" creationId="{B91F4684-A564-9FEA-5387-CF569C7AC667}"/>
          </ac:spMkLst>
        </pc:spChg>
      </pc:sldChg>
      <pc:sldChg chg="modSp add mod modTransition">
        <pc:chgData name="" userId="" providerId="" clId="Web-{9D56FB35-8ABA-4612-8B94-429F073D9175}" dt="2025-10-07T14:58:10.682" v="1" actId="34807"/>
        <pc:sldMkLst>
          <pc:docMk/>
          <pc:sldMk cId="472919285" sldId="2565"/>
        </pc:sldMkLst>
        <pc:spChg chg="mod">
          <ac:chgData name="" userId="" providerId="" clId="Web-{9D56FB35-8ABA-4612-8B94-429F073D9175}" dt="2025-10-07T14:58:10.682" v="1" actId="34807"/>
          <ac:spMkLst>
            <pc:docMk/>
            <pc:sldMk cId="472919285" sldId="2565"/>
            <ac:spMk id="2" creationId="{6CD10687-114D-E186-7099-017517AF2823}"/>
          </ac:spMkLst>
        </pc:spChg>
        <pc:graphicFrameChg chg="mod">
          <ac:chgData name="" userId="" providerId="" clId="Web-{9D56FB35-8ABA-4612-8B94-429F073D9175}" dt="2025-10-07T14:58:10.682" v="1" actId="34807"/>
          <ac:graphicFrameMkLst>
            <pc:docMk/>
            <pc:sldMk cId="472919285" sldId="2565"/>
            <ac:graphicFrameMk id="5" creationId="{562C7699-BD2E-450C-96BC-E42318667303}"/>
          </ac:graphicFrameMkLst>
        </pc:graphicFrameChg>
      </pc:sldChg>
      <pc:sldChg chg="modSp add mod modTransition addAnim chgLayout">
        <pc:chgData name="" userId="" providerId="" clId="Web-{9D56FB35-8ABA-4612-8B94-429F073D9175}" dt="2025-10-07T14:58:10.682" v="8" actId="34807"/>
        <pc:sldMkLst>
          <pc:docMk/>
          <pc:sldMk cId="1463716506" sldId="2566"/>
        </pc:sldMkLst>
        <pc:spChg chg="mod">
          <ac:chgData name="" userId="" providerId="" clId="Web-{9D56FB35-8ABA-4612-8B94-429F073D9175}" dt="2025-10-07T14:58:10.682" v="1" actId="34807"/>
          <ac:spMkLst>
            <pc:docMk/>
            <pc:sldMk cId="1463716506" sldId="2566"/>
            <ac:spMk id="2" creationId="{9833C3A8-DA86-5426-B237-21D24C0B502E}"/>
          </ac:spMkLst>
        </pc:spChg>
      </pc:sldChg>
      <pc:sldChg chg="modSp add mod modTransition modClrScheme addAnim chgLayout">
        <pc:chgData name="" userId="" providerId="" clId="Web-{9D56FB35-8ABA-4612-8B94-429F073D9175}" dt="2025-10-07T14:58:10.698" v="9" actId="34807"/>
        <pc:sldMkLst>
          <pc:docMk/>
          <pc:sldMk cId="16041623" sldId="2567"/>
        </pc:sldMkLst>
        <pc:spChg chg="mod">
          <ac:chgData name="" userId="" providerId="" clId="Web-{9D56FB35-8ABA-4612-8B94-429F073D9175}" dt="2025-10-07T14:58:10.682" v="1" actId="34807"/>
          <ac:spMkLst>
            <pc:docMk/>
            <pc:sldMk cId="16041623" sldId="2567"/>
            <ac:spMk id="2" creationId="{0D09286F-D3AC-4C33-A360-59E7A8408297}"/>
          </ac:spMkLst>
        </pc:spChg>
        <pc:spChg chg="mod">
          <ac:chgData name="" userId="" providerId="" clId="Web-{9D56FB35-8ABA-4612-8B94-429F073D9175}" dt="2025-10-07T14:58:10.682" v="1" actId="34807"/>
          <ac:spMkLst>
            <pc:docMk/>
            <pc:sldMk cId="16041623" sldId="2567"/>
            <ac:spMk id="4" creationId="{F6712638-7E6B-A1C4-71D5-772DF8A70F37}"/>
          </ac:spMkLst>
        </pc:spChg>
        <pc:picChg chg="mod">
          <ac:chgData name="" userId="" providerId="" clId="Web-{9D56FB35-8ABA-4612-8B94-429F073D9175}" dt="2025-10-07T14:58:10.682" v="1" actId="34807"/>
          <ac:picMkLst>
            <pc:docMk/>
            <pc:sldMk cId="16041623" sldId="2567"/>
            <ac:picMk id="5" creationId="{242F0C21-8677-46B3-9A42-F5AA6FDA91BB}"/>
          </ac:picMkLst>
        </pc:picChg>
      </pc:sldChg>
      <pc:sldChg chg="modSp add mod modTransition addAnim chgLayout">
        <pc:chgData name="" userId="" providerId="" clId="Web-{9D56FB35-8ABA-4612-8B94-429F073D9175}" dt="2025-10-07T14:58:10.698" v="10" actId="34807"/>
        <pc:sldMkLst>
          <pc:docMk/>
          <pc:sldMk cId="715026682" sldId="2568"/>
        </pc:sldMkLst>
        <pc:spChg chg="mod">
          <ac:chgData name="" userId="" providerId="" clId="Web-{9D56FB35-8ABA-4612-8B94-429F073D9175}" dt="2025-10-07T14:58:10.682" v="1" actId="34807"/>
          <ac:spMkLst>
            <pc:docMk/>
            <pc:sldMk cId="715026682" sldId="2568"/>
            <ac:spMk id="2" creationId="{98FAB00A-6022-C579-D27A-1DD1AA79F5EF}"/>
          </ac:spMkLst>
        </pc:spChg>
      </pc:sldChg>
      <pc:sldChg chg="modSp add mod modTransition modClrScheme addAnim chgLayout">
        <pc:chgData name="" userId="" providerId="" clId="Web-{9D56FB35-8ABA-4612-8B94-429F073D9175}" dt="2025-10-07T14:58:10.698" v="11" actId="34807"/>
        <pc:sldMkLst>
          <pc:docMk/>
          <pc:sldMk cId="3852856222" sldId="2569"/>
        </pc:sldMkLst>
        <pc:spChg chg="mod">
          <ac:chgData name="" userId="" providerId="" clId="Web-{9D56FB35-8ABA-4612-8B94-429F073D9175}" dt="2025-10-07T14:58:10.682" v="1" actId="34807"/>
          <ac:spMkLst>
            <pc:docMk/>
            <pc:sldMk cId="3852856222" sldId="2569"/>
            <ac:spMk id="2" creationId="{31C2F52D-F6EA-9C93-8C6C-C929F97A41D7}"/>
          </ac:spMkLst>
        </pc:spChg>
        <pc:spChg chg="mod">
          <ac:chgData name="" userId="" providerId="" clId="Web-{9D56FB35-8ABA-4612-8B94-429F073D9175}" dt="2025-10-07T14:58:10.682" v="1" actId="34807"/>
          <ac:spMkLst>
            <pc:docMk/>
            <pc:sldMk cId="3852856222" sldId="2569"/>
            <ac:spMk id="4" creationId="{52CD2822-2CC0-707A-D51D-8FD8CC2B0BD7}"/>
          </ac:spMkLst>
        </pc:spChg>
        <pc:picChg chg="mod ord">
          <ac:chgData name="" userId="" providerId="" clId="Web-{9D56FB35-8ABA-4612-8B94-429F073D9175}" dt="2025-10-07T14:58:10.682" v="1" actId="34807"/>
          <ac:picMkLst>
            <pc:docMk/>
            <pc:sldMk cId="3852856222" sldId="2569"/>
            <ac:picMk id="5" creationId="{4598B186-BE8F-415F-A63D-90BBC3A9E407}"/>
          </ac:picMkLst>
        </pc:picChg>
      </pc:sldChg>
      <pc:sldChg chg="modSp add mod modTransition addAnim chgLayout">
        <pc:chgData name="" userId="" providerId="" clId="Web-{9D56FB35-8ABA-4612-8B94-429F073D9175}" dt="2025-10-07T14:58:10.698" v="12" actId="34807"/>
        <pc:sldMkLst>
          <pc:docMk/>
          <pc:sldMk cId="3440913923" sldId="2570"/>
        </pc:sldMkLst>
        <pc:spChg chg="mod">
          <ac:chgData name="" userId="" providerId="" clId="Web-{9D56FB35-8ABA-4612-8B94-429F073D9175}" dt="2025-10-07T14:58:10.682" v="1" actId="34807"/>
          <ac:spMkLst>
            <pc:docMk/>
            <pc:sldMk cId="3440913923" sldId="2570"/>
            <ac:spMk id="2" creationId="{033B7E35-6B4A-21F4-2AAA-40C721F1F456}"/>
          </ac:spMkLst>
        </pc:spChg>
      </pc:sldChg>
      <pc:sldChg chg="modSp add mod modTransition">
        <pc:chgData name="" userId="" providerId="" clId="Web-{9D56FB35-8ABA-4612-8B94-429F073D9175}" dt="2025-10-07T14:58:10.682" v="1" actId="34807"/>
        <pc:sldMkLst>
          <pc:docMk/>
          <pc:sldMk cId="4183028642" sldId="2571"/>
        </pc:sldMkLst>
        <pc:spChg chg="mod">
          <ac:chgData name="" userId="" providerId="" clId="Web-{9D56FB35-8ABA-4612-8B94-429F073D9175}" dt="2025-10-07T14:58:10.682" v="1" actId="34807"/>
          <ac:spMkLst>
            <pc:docMk/>
            <pc:sldMk cId="4183028642" sldId="2571"/>
            <ac:spMk id="2" creationId="{D51975AD-4EAF-5D1F-A780-D93FE1CC8F29}"/>
          </ac:spMkLst>
        </pc:spChg>
        <pc:graphicFrameChg chg="mod modGraphic">
          <ac:chgData name="" userId="" providerId="" clId="Web-{9D56FB35-8ABA-4612-8B94-429F073D9175}" dt="2025-10-07T14:58:10.682" v="1" actId="34807"/>
          <ac:graphicFrameMkLst>
            <pc:docMk/>
            <pc:sldMk cId="4183028642" sldId="2571"/>
            <ac:graphicFrameMk id="4" creationId="{E61A8699-1762-4F46-9FA5-9D5DA755068C}"/>
          </ac:graphicFrameMkLst>
        </pc:graphicFrameChg>
      </pc:sldChg>
      <pc:sldChg chg="modSp add mod modTransition addAnim chgLayout">
        <pc:chgData name="" userId="" providerId="" clId="Web-{9D56FB35-8ABA-4612-8B94-429F073D9175}" dt="2025-10-07T14:58:10.698" v="13" actId="34807"/>
        <pc:sldMkLst>
          <pc:docMk/>
          <pc:sldMk cId="501147219" sldId="2572"/>
        </pc:sldMkLst>
        <pc:spChg chg="mod">
          <ac:chgData name="" userId="" providerId="" clId="Web-{9D56FB35-8ABA-4612-8B94-429F073D9175}" dt="2025-10-07T14:58:10.682" v="1" actId="34807"/>
          <ac:spMkLst>
            <pc:docMk/>
            <pc:sldMk cId="501147219" sldId="2572"/>
            <ac:spMk id="2" creationId="{16F82A76-F954-F5A3-C540-18245E2D4E42}"/>
          </ac:spMkLst>
        </pc:spChg>
      </pc:sldChg>
      <pc:sldChg chg="modSp add mod modTransition modClrScheme addAnim chgLayout">
        <pc:chgData name="" userId="" providerId="" clId="Web-{9D56FB35-8ABA-4612-8B94-429F073D9175}" dt="2025-10-07T14:58:10.698" v="14" actId="34807"/>
        <pc:sldMkLst>
          <pc:docMk/>
          <pc:sldMk cId="2721879180" sldId="2573"/>
        </pc:sldMkLst>
        <pc:spChg chg="mod">
          <ac:chgData name="" userId="" providerId="" clId="Web-{9D56FB35-8ABA-4612-8B94-429F073D9175}" dt="2025-10-07T14:58:10.682" v="1" actId="34807"/>
          <ac:spMkLst>
            <pc:docMk/>
            <pc:sldMk cId="2721879180" sldId="2573"/>
            <ac:spMk id="2" creationId="{97A517D3-C8D2-4F0C-3232-25FFFF686093}"/>
          </ac:spMkLst>
        </pc:spChg>
        <pc:spChg chg="mod">
          <ac:chgData name="" userId="" providerId="" clId="Web-{9D56FB35-8ABA-4612-8B94-429F073D9175}" dt="2025-10-07T14:58:10.682" v="1" actId="34807"/>
          <ac:spMkLst>
            <pc:docMk/>
            <pc:sldMk cId="2721879180" sldId="2573"/>
            <ac:spMk id="4" creationId="{5052E1AB-E6B8-1FA1-05B7-378766A523D4}"/>
          </ac:spMkLst>
        </pc:spChg>
        <pc:picChg chg="mod">
          <ac:chgData name="" userId="" providerId="" clId="Web-{9D56FB35-8ABA-4612-8B94-429F073D9175}" dt="2025-10-07T14:58:10.682" v="1" actId="34807"/>
          <ac:picMkLst>
            <pc:docMk/>
            <pc:sldMk cId="2721879180" sldId="2573"/>
            <ac:picMk id="5" creationId="{0ABA7E1A-AF5F-4E0B-B197-2120B9D5E974}"/>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9F7210-C43A-4DBD-A69D-422E233E1FD6}"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F58FE8E3-CFA7-4530-B025-F5EC3DADC2EA}">
      <dgm:prSet/>
      <dgm:spPr/>
      <dgm:t>
        <a:bodyPr/>
        <a:lstStyle/>
        <a:p>
          <a:pPr>
            <a:lnSpc>
              <a:spcPct val="100000"/>
            </a:lnSpc>
            <a:defRPr b="1"/>
          </a:pPr>
          <a:r>
            <a:rPr lang="en-US"/>
            <a:t>File Format Comparison</a:t>
          </a:r>
        </a:p>
      </dgm:t>
    </dgm:pt>
    <dgm:pt modelId="{681DB4D9-2A8F-4BDE-9074-460F2441E656}" type="parTrans" cxnId="{C38636AE-2181-4462-91FA-B5F859FEADE2}">
      <dgm:prSet/>
      <dgm:spPr/>
      <dgm:t>
        <a:bodyPr/>
        <a:lstStyle/>
        <a:p>
          <a:endParaRPr lang="en-US"/>
        </a:p>
      </dgm:t>
    </dgm:pt>
    <dgm:pt modelId="{AFA2C80C-C4F3-4CA7-A3B7-977C638C6A83}" type="sibTrans" cxnId="{C38636AE-2181-4462-91FA-B5F859FEADE2}">
      <dgm:prSet/>
      <dgm:spPr/>
      <dgm:t>
        <a:bodyPr/>
        <a:lstStyle/>
        <a:p>
          <a:pPr>
            <a:lnSpc>
              <a:spcPct val="100000"/>
            </a:lnSpc>
            <a:defRPr b="1"/>
          </a:pPr>
          <a:endParaRPr lang="en-US"/>
        </a:p>
      </dgm:t>
    </dgm:pt>
    <dgm:pt modelId="{A0E43CA7-9A75-436D-B03F-493C18D50779}">
      <dgm:prSet/>
      <dgm:spPr/>
      <dgm:t>
        <a:bodyPr/>
        <a:lstStyle/>
        <a:p>
          <a:pPr>
            <a:lnSpc>
              <a:spcPct val="100000"/>
            </a:lnSpc>
          </a:pPr>
          <a:r>
            <a:rPr lang="en-US"/>
            <a:t>SAS dataset format is small and fast for structured data, JSON is flexible but slower, CSV balances universality and performance.</a:t>
          </a:r>
        </a:p>
      </dgm:t>
    </dgm:pt>
    <dgm:pt modelId="{9B4CF47B-64EB-471F-ACDE-E28E94A979B0}" type="parTrans" cxnId="{3D4CC679-104F-4999-920C-FD87E781D551}">
      <dgm:prSet/>
      <dgm:spPr/>
      <dgm:t>
        <a:bodyPr/>
        <a:lstStyle/>
        <a:p>
          <a:endParaRPr lang="en-US"/>
        </a:p>
      </dgm:t>
    </dgm:pt>
    <dgm:pt modelId="{324F0E0C-1FF6-4394-B25A-196193187C41}" type="sibTrans" cxnId="{3D4CC679-104F-4999-920C-FD87E781D551}">
      <dgm:prSet/>
      <dgm:spPr/>
      <dgm:t>
        <a:bodyPr/>
        <a:lstStyle/>
        <a:p>
          <a:endParaRPr lang="en-US"/>
        </a:p>
      </dgm:t>
    </dgm:pt>
    <dgm:pt modelId="{A83A4787-B006-46D9-8A98-A269EB0BD35A}">
      <dgm:prSet/>
      <dgm:spPr/>
      <dgm:t>
        <a:bodyPr/>
        <a:lstStyle/>
        <a:p>
          <a:pPr>
            <a:lnSpc>
              <a:spcPct val="100000"/>
            </a:lnSpc>
            <a:defRPr b="1"/>
          </a:pPr>
          <a:r>
            <a:rPr lang="en-US"/>
            <a:t>Storage Options</a:t>
          </a:r>
        </a:p>
      </dgm:t>
    </dgm:pt>
    <dgm:pt modelId="{EE7A8983-99AB-4FF3-8DE5-F8CE68745001}" type="parTrans" cxnId="{B6F57427-9A48-433E-8FC3-3E3E17BBAD53}">
      <dgm:prSet/>
      <dgm:spPr/>
      <dgm:t>
        <a:bodyPr/>
        <a:lstStyle/>
        <a:p>
          <a:endParaRPr lang="en-US"/>
        </a:p>
      </dgm:t>
    </dgm:pt>
    <dgm:pt modelId="{52C46B81-5461-41E4-BAD9-29641041D39A}" type="sibTrans" cxnId="{B6F57427-9A48-433E-8FC3-3E3E17BBAD53}">
      <dgm:prSet/>
      <dgm:spPr/>
      <dgm:t>
        <a:bodyPr/>
        <a:lstStyle/>
        <a:p>
          <a:pPr>
            <a:lnSpc>
              <a:spcPct val="100000"/>
            </a:lnSpc>
            <a:defRPr b="1"/>
          </a:pPr>
          <a:endParaRPr lang="en-US"/>
        </a:p>
      </dgm:t>
    </dgm:pt>
    <dgm:pt modelId="{528D8400-65DB-48B1-9389-D5D47C41547F}">
      <dgm:prSet/>
      <dgm:spPr/>
      <dgm:t>
        <a:bodyPr/>
        <a:lstStyle/>
        <a:p>
          <a:pPr>
            <a:lnSpc>
              <a:spcPct val="100000"/>
            </a:lnSpc>
          </a:pPr>
          <a:r>
            <a:rPr lang="en-US"/>
            <a:t>DBFS suits intermediate staging, Volumes offer persistent scalable storage, Delta Tables optimize performance for analytics and updates.</a:t>
          </a:r>
        </a:p>
      </dgm:t>
    </dgm:pt>
    <dgm:pt modelId="{5F9E0F2A-DFFF-4F75-BA46-86F425017303}" type="parTrans" cxnId="{04FCBCF9-A17C-47CC-AC20-7FB200F6BE7C}">
      <dgm:prSet/>
      <dgm:spPr/>
      <dgm:t>
        <a:bodyPr/>
        <a:lstStyle/>
        <a:p>
          <a:endParaRPr lang="en-US"/>
        </a:p>
      </dgm:t>
    </dgm:pt>
    <dgm:pt modelId="{B82D8046-CA9E-43DC-B0CD-D6C8848CED4F}" type="sibTrans" cxnId="{04FCBCF9-A17C-47CC-AC20-7FB200F6BE7C}">
      <dgm:prSet/>
      <dgm:spPr/>
      <dgm:t>
        <a:bodyPr/>
        <a:lstStyle/>
        <a:p>
          <a:endParaRPr lang="en-US"/>
        </a:p>
      </dgm:t>
    </dgm:pt>
    <dgm:pt modelId="{65450446-3018-416B-8692-207500644A00}">
      <dgm:prSet/>
      <dgm:spPr/>
      <dgm:t>
        <a:bodyPr/>
        <a:lstStyle/>
        <a:p>
          <a:pPr>
            <a:lnSpc>
              <a:spcPct val="100000"/>
            </a:lnSpc>
            <a:defRPr b="1"/>
          </a:pPr>
          <a:r>
            <a:rPr lang="en-US"/>
            <a:t>Recommended Workflows</a:t>
          </a:r>
        </a:p>
      </dgm:t>
    </dgm:pt>
    <dgm:pt modelId="{41D8B61F-95C8-4C40-9736-20129CB58B13}" type="parTrans" cxnId="{4C3A6642-5A14-4316-B14E-114015DC4BD4}">
      <dgm:prSet/>
      <dgm:spPr/>
      <dgm:t>
        <a:bodyPr/>
        <a:lstStyle/>
        <a:p>
          <a:endParaRPr lang="en-US"/>
        </a:p>
      </dgm:t>
    </dgm:pt>
    <dgm:pt modelId="{B054D248-7545-4E17-8357-05BFA391D1CE}" type="sibTrans" cxnId="{4C3A6642-5A14-4316-B14E-114015DC4BD4}">
      <dgm:prSet/>
      <dgm:spPr/>
      <dgm:t>
        <a:bodyPr/>
        <a:lstStyle/>
        <a:p>
          <a:endParaRPr lang="en-US"/>
        </a:p>
      </dgm:t>
    </dgm:pt>
    <dgm:pt modelId="{14F0E404-17CD-482D-8F8F-9A1EDE1A7F84}">
      <dgm:prSet/>
      <dgm:spPr/>
      <dgm:t>
        <a:bodyPr/>
        <a:lstStyle/>
        <a:p>
          <a:pPr>
            <a:lnSpc>
              <a:spcPct val="100000"/>
            </a:lnSpc>
          </a:pPr>
          <a:r>
            <a:rPr lang="en-US"/>
            <a:t>Workflows vary by data type: structured data uses .sas7bdat, semi-structured uses JSON, and CSV offers a middle ground.</a:t>
          </a:r>
        </a:p>
      </dgm:t>
    </dgm:pt>
    <dgm:pt modelId="{F3437869-8EEB-4154-AACB-8AA5294866B6}" type="parTrans" cxnId="{EC353967-60A0-46AF-9C02-FF363A206E15}">
      <dgm:prSet/>
      <dgm:spPr/>
      <dgm:t>
        <a:bodyPr/>
        <a:lstStyle/>
        <a:p>
          <a:endParaRPr lang="en-US"/>
        </a:p>
      </dgm:t>
    </dgm:pt>
    <dgm:pt modelId="{42A7B3EB-CF54-45A0-8269-F048BDD27C93}" type="sibTrans" cxnId="{EC353967-60A0-46AF-9C02-FF363A206E15}">
      <dgm:prSet/>
      <dgm:spPr/>
      <dgm:t>
        <a:bodyPr/>
        <a:lstStyle/>
        <a:p>
          <a:endParaRPr lang="en-US"/>
        </a:p>
      </dgm:t>
    </dgm:pt>
    <dgm:pt modelId="{365594B5-3F67-44C6-B315-4CB7D6022963}" type="pres">
      <dgm:prSet presAssocID="{289F7210-C43A-4DBD-A69D-422E233E1FD6}" presName="Root" presStyleCnt="0">
        <dgm:presLayoutVars>
          <dgm:dir/>
          <dgm:resizeHandles val="exact"/>
        </dgm:presLayoutVars>
      </dgm:prSet>
      <dgm:spPr/>
    </dgm:pt>
    <dgm:pt modelId="{D150FFE2-44F0-4495-A77A-027E81173F6C}" type="pres">
      <dgm:prSet presAssocID="{F58FE8E3-CFA7-4530-B025-F5EC3DADC2EA}" presName="Composite" presStyleCnt="0"/>
      <dgm:spPr/>
    </dgm:pt>
    <dgm:pt modelId="{FD63FC8E-E246-4F94-827D-A52986A5E27E}" type="pres">
      <dgm:prSet presAssocID="{F58FE8E3-CFA7-4530-B025-F5EC3DADC2EA}"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2155" r="35846" b="2"/>
          <a:stretch/>
        </a:blipFill>
      </dgm:spPr>
      <dgm:extLst>
        <a:ext uri="{E40237B7-FDA0-4F09-8148-C483321AD2D9}">
          <dgm14:cNvPr xmlns:dgm14="http://schemas.microsoft.com/office/drawing/2010/diagram" id="0" name="" descr="Chart Icon on Button with Metallic Rim. The icon comes in two versions blue and red and has a shiny metallic rim. The buttons have a slight shadow and are on a white background. The modern look of the buttons is very clean and will work perfectly for websites and mobile aps."/>
        </a:ext>
      </dgm:extLst>
    </dgm:pt>
    <dgm:pt modelId="{378B74B5-668F-4AC4-9CD2-9A4C6BD8D83C}" type="pres">
      <dgm:prSet presAssocID="{F58FE8E3-CFA7-4530-B025-F5EC3DADC2EA}" presName="Subtitle" presStyleLbl="revTx" presStyleIdx="0" presStyleCnt="6">
        <dgm:presLayoutVars>
          <dgm:chMax val="0"/>
          <dgm:bulletEnabled/>
        </dgm:presLayoutVars>
      </dgm:prSet>
      <dgm:spPr/>
    </dgm:pt>
    <dgm:pt modelId="{5254B447-B0A0-4B55-9BE8-832EDEBF05E4}" type="pres">
      <dgm:prSet presAssocID="{F58FE8E3-CFA7-4530-B025-F5EC3DADC2EA}" presName="Description" presStyleLbl="revTx" presStyleIdx="1" presStyleCnt="6">
        <dgm:presLayoutVars>
          <dgm:bulletEnabled/>
        </dgm:presLayoutVars>
      </dgm:prSet>
      <dgm:spPr/>
    </dgm:pt>
    <dgm:pt modelId="{98C34A3A-60F5-4E5F-978D-1E41662CC760}" type="pres">
      <dgm:prSet presAssocID="{AFA2C80C-C4F3-4CA7-A3B7-977C638C6A83}" presName="sibTrans" presStyleLbl="sibTrans2D1" presStyleIdx="0" presStyleCnt="0"/>
      <dgm:spPr/>
    </dgm:pt>
    <dgm:pt modelId="{F8C6BE75-DD35-48D2-866B-C3C38BC36FEE}" type="pres">
      <dgm:prSet presAssocID="{A83A4787-B006-46D9-8A98-A269EB0BD35A}" presName="Composite" presStyleCnt="0"/>
      <dgm:spPr/>
    </dgm:pt>
    <dgm:pt modelId="{FACBF395-C3F0-4795-A3D2-4C7F699B3ABC}" type="pres">
      <dgm:prSet presAssocID="{A83A4787-B006-46D9-8A98-A269EB0BD35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r="-12" b="-12"/>
          <a:stretch/>
        </a:blipFill>
      </dgm:spPr>
      <dgm:extLst>
        <a:ext uri="{E40237B7-FDA0-4F09-8148-C483321AD2D9}">
          <dgm14:cNvPr xmlns:dgm14="http://schemas.microsoft.com/office/drawing/2010/diagram" id="0" name="" descr="Big data database symbol badge button"/>
        </a:ext>
      </dgm:extLst>
    </dgm:pt>
    <dgm:pt modelId="{04FECF7E-4D2F-49FE-9DC9-63D946E877B5}" type="pres">
      <dgm:prSet presAssocID="{A83A4787-B006-46D9-8A98-A269EB0BD35A}" presName="Subtitle" presStyleLbl="revTx" presStyleIdx="2" presStyleCnt="6">
        <dgm:presLayoutVars>
          <dgm:chMax val="0"/>
          <dgm:bulletEnabled/>
        </dgm:presLayoutVars>
      </dgm:prSet>
      <dgm:spPr/>
    </dgm:pt>
    <dgm:pt modelId="{B7A2A9E0-EAC6-46BC-930E-ABECCE08ED2F}" type="pres">
      <dgm:prSet presAssocID="{A83A4787-B006-46D9-8A98-A269EB0BD35A}" presName="Description" presStyleLbl="revTx" presStyleIdx="3" presStyleCnt="6">
        <dgm:presLayoutVars>
          <dgm:bulletEnabled/>
        </dgm:presLayoutVars>
      </dgm:prSet>
      <dgm:spPr/>
    </dgm:pt>
    <dgm:pt modelId="{70060D3A-41FD-4D69-9E97-E4C2DC964E96}" type="pres">
      <dgm:prSet presAssocID="{52C46B81-5461-41E4-BAD9-29641041D39A}" presName="sibTrans" presStyleLbl="sibTrans2D1" presStyleIdx="0" presStyleCnt="0"/>
      <dgm:spPr/>
    </dgm:pt>
    <dgm:pt modelId="{FCFC62DE-37B5-4204-8535-24C5ED761450}" type="pres">
      <dgm:prSet presAssocID="{65450446-3018-416B-8692-207500644A00}" presName="Composite" presStyleCnt="0"/>
      <dgm:spPr/>
    </dgm:pt>
    <dgm:pt modelId="{10FB9E0A-9D22-4EA7-A3F3-3DB6857C8F9B}" type="pres">
      <dgm:prSet presAssocID="{65450446-3018-416B-8692-207500644A00}"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8699" r="18801"/>
          <a:stretch/>
        </a:blipFill>
      </dgm:spPr>
      <dgm:extLst>
        <a:ext uri="{E40237B7-FDA0-4F09-8148-C483321AD2D9}">
          <dgm14:cNvPr xmlns:dgm14="http://schemas.microsoft.com/office/drawing/2010/diagram" id="0" name="" descr="File folder big data internet network cloud computing"/>
        </a:ext>
      </dgm:extLst>
    </dgm:pt>
    <dgm:pt modelId="{73F824EA-5EBC-4E09-B3D2-6922FA009321}" type="pres">
      <dgm:prSet presAssocID="{65450446-3018-416B-8692-207500644A00}" presName="Subtitle" presStyleLbl="revTx" presStyleIdx="4" presStyleCnt="6">
        <dgm:presLayoutVars>
          <dgm:chMax val="0"/>
          <dgm:bulletEnabled/>
        </dgm:presLayoutVars>
      </dgm:prSet>
      <dgm:spPr/>
    </dgm:pt>
    <dgm:pt modelId="{38FC1FC9-9711-4C14-B0B5-E5F39E95B617}" type="pres">
      <dgm:prSet presAssocID="{65450446-3018-416B-8692-207500644A00}" presName="Description" presStyleLbl="revTx" presStyleIdx="5" presStyleCnt="6">
        <dgm:presLayoutVars>
          <dgm:bulletEnabled/>
        </dgm:presLayoutVars>
      </dgm:prSet>
      <dgm:spPr/>
    </dgm:pt>
  </dgm:ptLst>
  <dgm:cxnLst>
    <dgm:cxn modelId="{A49B6A03-4C74-43BE-B7F0-2100D2BB7396}" type="presOf" srcId="{A0E43CA7-9A75-436D-B03F-493C18D50779}" destId="{5254B447-B0A0-4B55-9BE8-832EDEBF05E4}" srcOrd="0" destOrd="0" presId="urn:microsoft.com/office/officeart/2024/3/layout/verticalVisualTextBlock1"/>
    <dgm:cxn modelId="{173F3215-74DE-4F59-9F32-0A0759B52BF8}" type="presOf" srcId="{65450446-3018-416B-8692-207500644A00}" destId="{73F824EA-5EBC-4E09-B3D2-6922FA009321}" srcOrd="0" destOrd="0" presId="urn:microsoft.com/office/officeart/2024/3/layout/verticalVisualTextBlock1"/>
    <dgm:cxn modelId="{3A90101C-69A1-40BB-AF4E-496682F63E18}" type="presOf" srcId="{A83A4787-B006-46D9-8A98-A269EB0BD35A}" destId="{04FECF7E-4D2F-49FE-9DC9-63D946E877B5}" srcOrd="0" destOrd="0" presId="urn:microsoft.com/office/officeart/2024/3/layout/verticalVisualTextBlock1"/>
    <dgm:cxn modelId="{B6F57427-9A48-433E-8FC3-3E3E17BBAD53}" srcId="{289F7210-C43A-4DBD-A69D-422E233E1FD6}" destId="{A83A4787-B006-46D9-8A98-A269EB0BD35A}" srcOrd="1" destOrd="0" parTransId="{EE7A8983-99AB-4FF3-8DE5-F8CE68745001}" sibTransId="{52C46B81-5461-41E4-BAD9-29641041D39A}"/>
    <dgm:cxn modelId="{4C3A6642-5A14-4316-B14E-114015DC4BD4}" srcId="{289F7210-C43A-4DBD-A69D-422E233E1FD6}" destId="{65450446-3018-416B-8692-207500644A00}" srcOrd="2" destOrd="0" parTransId="{41D8B61F-95C8-4C40-9736-20129CB58B13}" sibTransId="{B054D248-7545-4E17-8357-05BFA391D1CE}"/>
    <dgm:cxn modelId="{EC353967-60A0-46AF-9C02-FF363A206E15}" srcId="{65450446-3018-416B-8692-207500644A00}" destId="{14F0E404-17CD-482D-8F8F-9A1EDE1A7F84}" srcOrd="0" destOrd="0" parTransId="{F3437869-8EEB-4154-AACB-8AA5294866B6}" sibTransId="{42A7B3EB-CF54-45A0-8269-F048BDD27C93}"/>
    <dgm:cxn modelId="{E73C5249-B6BB-4AAB-9416-D9157E6620F7}" type="presOf" srcId="{289F7210-C43A-4DBD-A69D-422E233E1FD6}" destId="{365594B5-3F67-44C6-B315-4CB7D6022963}" srcOrd="0" destOrd="0" presId="urn:microsoft.com/office/officeart/2024/3/layout/verticalVisualTextBlock1"/>
    <dgm:cxn modelId="{3D4CC679-104F-4999-920C-FD87E781D551}" srcId="{F58FE8E3-CFA7-4530-B025-F5EC3DADC2EA}" destId="{A0E43CA7-9A75-436D-B03F-493C18D50779}" srcOrd="0" destOrd="0" parTransId="{9B4CF47B-64EB-471F-ACDE-E28E94A979B0}" sibTransId="{324F0E0C-1FF6-4394-B25A-196193187C41}"/>
    <dgm:cxn modelId="{08B3E991-6B01-4D08-9A2F-6EB0E102964A}" type="presOf" srcId="{F58FE8E3-CFA7-4530-B025-F5EC3DADC2EA}" destId="{378B74B5-668F-4AC4-9CD2-9A4C6BD8D83C}" srcOrd="0" destOrd="0" presId="urn:microsoft.com/office/officeart/2024/3/layout/verticalVisualTextBlock1"/>
    <dgm:cxn modelId="{C38636AE-2181-4462-91FA-B5F859FEADE2}" srcId="{289F7210-C43A-4DBD-A69D-422E233E1FD6}" destId="{F58FE8E3-CFA7-4530-B025-F5EC3DADC2EA}" srcOrd="0" destOrd="0" parTransId="{681DB4D9-2A8F-4BDE-9074-460F2441E656}" sibTransId="{AFA2C80C-C4F3-4CA7-A3B7-977C638C6A83}"/>
    <dgm:cxn modelId="{5F239DC6-FDF0-42AE-875B-FC2A0E74F6D0}" type="presOf" srcId="{AFA2C80C-C4F3-4CA7-A3B7-977C638C6A83}" destId="{98C34A3A-60F5-4E5F-978D-1E41662CC760}" srcOrd="0" destOrd="0" presId="urn:microsoft.com/office/officeart/2024/3/layout/verticalVisualTextBlock1"/>
    <dgm:cxn modelId="{254F82DA-B672-4FB0-8F68-F4ECFD4C8CA2}" type="presOf" srcId="{528D8400-65DB-48B1-9389-D5D47C41547F}" destId="{B7A2A9E0-EAC6-46BC-930E-ABECCE08ED2F}" srcOrd="0" destOrd="0" presId="urn:microsoft.com/office/officeart/2024/3/layout/verticalVisualTextBlock1"/>
    <dgm:cxn modelId="{589C68E5-93F4-43E9-98E2-E1DE5CA76F3A}" type="presOf" srcId="{52C46B81-5461-41E4-BAD9-29641041D39A}" destId="{70060D3A-41FD-4D69-9E97-E4C2DC964E96}" srcOrd="0" destOrd="0" presId="urn:microsoft.com/office/officeart/2024/3/layout/verticalVisualTextBlock1"/>
    <dgm:cxn modelId="{9AAA5EEF-BC87-41BF-BAE0-86EA37EF58B4}" type="presOf" srcId="{14F0E404-17CD-482D-8F8F-9A1EDE1A7F84}" destId="{38FC1FC9-9711-4C14-B0B5-E5F39E95B617}" srcOrd="0" destOrd="0" presId="urn:microsoft.com/office/officeart/2024/3/layout/verticalVisualTextBlock1"/>
    <dgm:cxn modelId="{04FCBCF9-A17C-47CC-AC20-7FB200F6BE7C}" srcId="{A83A4787-B006-46D9-8A98-A269EB0BD35A}" destId="{528D8400-65DB-48B1-9389-D5D47C41547F}" srcOrd="0" destOrd="0" parTransId="{5F9E0F2A-DFFF-4F75-BA46-86F425017303}" sibTransId="{B82D8046-CA9E-43DC-B0CD-D6C8848CED4F}"/>
    <dgm:cxn modelId="{403F798A-F1C0-41F2-92E2-DC1F51DDA639}" type="presParOf" srcId="{365594B5-3F67-44C6-B315-4CB7D6022963}" destId="{D150FFE2-44F0-4495-A77A-027E81173F6C}" srcOrd="0" destOrd="0" presId="urn:microsoft.com/office/officeart/2024/3/layout/verticalVisualTextBlock1"/>
    <dgm:cxn modelId="{3624BB57-DCD6-47DD-8838-12CFAF21D8F2}" type="presParOf" srcId="{D150FFE2-44F0-4495-A77A-027E81173F6C}" destId="{FD63FC8E-E246-4F94-827D-A52986A5E27E}" srcOrd="0" destOrd="0" presId="urn:microsoft.com/office/officeart/2024/3/layout/verticalVisualTextBlock1"/>
    <dgm:cxn modelId="{7C2D5AEC-A2C4-450B-8514-7FC72BEBDB13}" type="presParOf" srcId="{D150FFE2-44F0-4495-A77A-027E81173F6C}" destId="{378B74B5-668F-4AC4-9CD2-9A4C6BD8D83C}" srcOrd="1" destOrd="0" presId="urn:microsoft.com/office/officeart/2024/3/layout/verticalVisualTextBlock1"/>
    <dgm:cxn modelId="{0D8F13D4-61C8-457E-9D9D-56F02732AC12}" type="presParOf" srcId="{D150FFE2-44F0-4495-A77A-027E81173F6C}" destId="{5254B447-B0A0-4B55-9BE8-832EDEBF05E4}" srcOrd="2" destOrd="0" presId="urn:microsoft.com/office/officeart/2024/3/layout/verticalVisualTextBlock1"/>
    <dgm:cxn modelId="{823C745C-7BFD-4A06-89B5-63AB4B2E0441}" type="presParOf" srcId="{365594B5-3F67-44C6-B315-4CB7D6022963}" destId="{98C34A3A-60F5-4E5F-978D-1E41662CC760}" srcOrd="1" destOrd="0" presId="urn:microsoft.com/office/officeart/2024/3/layout/verticalVisualTextBlock1"/>
    <dgm:cxn modelId="{A96E29A7-BCC6-485A-8A46-B648B452561D}" type="presParOf" srcId="{365594B5-3F67-44C6-B315-4CB7D6022963}" destId="{F8C6BE75-DD35-48D2-866B-C3C38BC36FEE}" srcOrd="2" destOrd="0" presId="urn:microsoft.com/office/officeart/2024/3/layout/verticalVisualTextBlock1"/>
    <dgm:cxn modelId="{4A97E414-783B-4042-A322-90C6D61022A2}" type="presParOf" srcId="{F8C6BE75-DD35-48D2-866B-C3C38BC36FEE}" destId="{FACBF395-C3F0-4795-A3D2-4C7F699B3ABC}" srcOrd="0" destOrd="0" presId="urn:microsoft.com/office/officeart/2024/3/layout/verticalVisualTextBlock1"/>
    <dgm:cxn modelId="{589ADD99-EDF9-45E8-8624-0991E08918F1}" type="presParOf" srcId="{F8C6BE75-DD35-48D2-866B-C3C38BC36FEE}" destId="{04FECF7E-4D2F-49FE-9DC9-63D946E877B5}" srcOrd="1" destOrd="0" presId="urn:microsoft.com/office/officeart/2024/3/layout/verticalVisualTextBlock1"/>
    <dgm:cxn modelId="{25BBE61E-249C-4990-8995-8480C525DC17}" type="presParOf" srcId="{F8C6BE75-DD35-48D2-866B-C3C38BC36FEE}" destId="{B7A2A9E0-EAC6-46BC-930E-ABECCE08ED2F}" srcOrd="2" destOrd="0" presId="urn:microsoft.com/office/officeart/2024/3/layout/verticalVisualTextBlock1"/>
    <dgm:cxn modelId="{EA752FE0-55FC-476A-98A6-FF896A66A1DD}" type="presParOf" srcId="{365594B5-3F67-44C6-B315-4CB7D6022963}" destId="{70060D3A-41FD-4D69-9E97-E4C2DC964E96}" srcOrd="3" destOrd="0" presId="urn:microsoft.com/office/officeart/2024/3/layout/verticalVisualTextBlock1"/>
    <dgm:cxn modelId="{95178388-D0B9-40B7-95FE-764D32EFA7C6}" type="presParOf" srcId="{365594B5-3F67-44C6-B315-4CB7D6022963}" destId="{FCFC62DE-37B5-4204-8535-24C5ED761450}" srcOrd="4" destOrd="0" presId="urn:microsoft.com/office/officeart/2024/3/layout/verticalVisualTextBlock1"/>
    <dgm:cxn modelId="{21D0A116-5903-461B-880A-F5DA495D87E7}" type="presParOf" srcId="{FCFC62DE-37B5-4204-8535-24C5ED761450}" destId="{10FB9E0A-9D22-4EA7-A3F3-3DB6857C8F9B}" srcOrd="0" destOrd="0" presId="urn:microsoft.com/office/officeart/2024/3/layout/verticalVisualTextBlock1"/>
    <dgm:cxn modelId="{19767B64-2185-4B2E-91D2-1A6F469565BE}" type="presParOf" srcId="{FCFC62DE-37B5-4204-8535-24C5ED761450}" destId="{73F824EA-5EBC-4E09-B3D2-6922FA009321}" srcOrd="1" destOrd="0" presId="urn:microsoft.com/office/officeart/2024/3/layout/verticalVisualTextBlock1"/>
    <dgm:cxn modelId="{A6340148-B2B1-4ADB-8C87-EF21CAFBE63E}" type="presParOf" srcId="{FCFC62DE-37B5-4204-8535-24C5ED761450}" destId="{38FC1FC9-9711-4C14-B0B5-E5F39E95B617}"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63FC8E-E246-4F94-827D-A52986A5E27E}">
      <dsp:nvSpPr>
        <dsp:cNvPr id="0" name=""/>
        <dsp:cNvSpPr/>
      </dsp:nvSpPr>
      <dsp:spPr>
        <a:xfrm>
          <a:off x="0" y="0"/>
          <a:ext cx="1283751" cy="128375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2155" r="35846" b="2"/>
          <a:stretch/>
        </a:blipFill>
        <a:ln>
          <a:noFill/>
        </a:ln>
        <a:effectLst/>
      </dsp:spPr>
      <dsp:style>
        <a:lnRef idx="0">
          <a:scrgbClr r="0" g="0" b="0"/>
        </a:lnRef>
        <a:fillRef idx="3">
          <a:scrgbClr r="0" g="0" b="0"/>
        </a:fillRef>
        <a:effectRef idx="2">
          <a:scrgbClr r="0" g="0" b="0"/>
        </a:effectRef>
        <a:fontRef idx="minor">
          <a:schemeClr val="lt1"/>
        </a:fontRef>
      </dsp:style>
    </dsp:sp>
    <dsp:sp modelId="{378B74B5-668F-4AC4-9CD2-9A4C6BD8D83C}">
      <dsp:nvSpPr>
        <dsp:cNvPr id="0" name=""/>
        <dsp:cNvSpPr/>
      </dsp:nvSpPr>
      <dsp:spPr>
        <a:xfrm>
          <a:off x="1463751" y="0"/>
          <a:ext cx="9499904" cy="357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File Format Comparison</a:t>
          </a:r>
        </a:p>
      </dsp:txBody>
      <dsp:txXfrm>
        <a:off x="1463751" y="0"/>
        <a:ext cx="9499904" cy="357849"/>
      </dsp:txXfrm>
    </dsp:sp>
    <dsp:sp modelId="{5254B447-B0A0-4B55-9BE8-832EDEBF05E4}">
      <dsp:nvSpPr>
        <dsp:cNvPr id="0" name=""/>
        <dsp:cNvSpPr/>
      </dsp:nvSpPr>
      <dsp:spPr>
        <a:xfrm>
          <a:off x="1463751" y="357849"/>
          <a:ext cx="9499904" cy="925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SAS dataset format is small and fast for structured data, JSON is flexible but slower, CSV balances universality and performance.</a:t>
          </a:r>
        </a:p>
      </dsp:txBody>
      <dsp:txXfrm>
        <a:off x="1463751" y="357849"/>
        <a:ext cx="9499904" cy="925901"/>
      </dsp:txXfrm>
    </dsp:sp>
    <dsp:sp modelId="{FACBF395-C3F0-4795-A3D2-4C7F699B3ABC}">
      <dsp:nvSpPr>
        <dsp:cNvPr id="0" name=""/>
        <dsp:cNvSpPr/>
      </dsp:nvSpPr>
      <dsp:spPr>
        <a:xfrm>
          <a:off x="0" y="1386451"/>
          <a:ext cx="1283751" cy="1283751"/>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r="-12" b="-12"/>
          <a:stretch/>
        </a:blipFill>
        <a:ln>
          <a:noFill/>
        </a:ln>
        <a:effectLst/>
      </dsp:spPr>
      <dsp:style>
        <a:lnRef idx="0">
          <a:scrgbClr r="0" g="0" b="0"/>
        </a:lnRef>
        <a:fillRef idx="3">
          <a:scrgbClr r="0" g="0" b="0"/>
        </a:fillRef>
        <a:effectRef idx="2">
          <a:scrgbClr r="0" g="0" b="0"/>
        </a:effectRef>
        <a:fontRef idx="minor">
          <a:schemeClr val="lt1"/>
        </a:fontRef>
      </dsp:style>
    </dsp:sp>
    <dsp:sp modelId="{04FECF7E-4D2F-49FE-9DC9-63D946E877B5}">
      <dsp:nvSpPr>
        <dsp:cNvPr id="0" name=""/>
        <dsp:cNvSpPr/>
      </dsp:nvSpPr>
      <dsp:spPr>
        <a:xfrm>
          <a:off x="1463751" y="1386451"/>
          <a:ext cx="9499904" cy="357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Storage Options</a:t>
          </a:r>
        </a:p>
      </dsp:txBody>
      <dsp:txXfrm>
        <a:off x="1463751" y="1386451"/>
        <a:ext cx="9499904" cy="357849"/>
      </dsp:txXfrm>
    </dsp:sp>
    <dsp:sp modelId="{B7A2A9E0-EAC6-46BC-930E-ABECCE08ED2F}">
      <dsp:nvSpPr>
        <dsp:cNvPr id="0" name=""/>
        <dsp:cNvSpPr/>
      </dsp:nvSpPr>
      <dsp:spPr>
        <a:xfrm>
          <a:off x="1463751" y="1744300"/>
          <a:ext cx="9499904" cy="925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DBFS suits intermediate staging, Volumes offer persistent scalable storage, Delta Tables optimize performance for analytics and updates.</a:t>
          </a:r>
        </a:p>
      </dsp:txBody>
      <dsp:txXfrm>
        <a:off x="1463751" y="1744300"/>
        <a:ext cx="9499904" cy="925901"/>
      </dsp:txXfrm>
    </dsp:sp>
    <dsp:sp modelId="{10FB9E0A-9D22-4EA7-A3F3-3DB6857C8F9B}">
      <dsp:nvSpPr>
        <dsp:cNvPr id="0" name=""/>
        <dsp:cNvSpPr/>
      </dsp:nvSpPr>
      <dsp:spPr>
        <a:xfrm>
          <a:off x="0" y="2772902"/>
          <a:ext cx="1283751" cy="1283751"/>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8699" r="18801"/>
          <a:stretch/>
        </a:blipFill>
        <a:ln>
          <a:noFill/>
        </a:ln>
        <a:effectLst/>
      </dsp:spPr>
      <dsp:style>
        <a:lnRef idx="0">
          <a:scrgbClr r="0" g="0" b="0"/>
        </a:lnRef>
        <a:fillRef idx="3">
          <a:scrgbClr r="0" g="0" b="0"/>
        </a:fillRef>
        <a:effectRef idx="2">
          <a:scrgbClr r="0" g="0" b="0"/>
        </a:effectRef>
        <a:fontRef idx="minor">
          <a:schemeClr val="lt1"/>
        </a:fontRef>
      </dsp:style>
    </dsp:sp>
    <dsp:sp modelId="{73F824EA-5EBC-4E09-B3D2-6922FA009321}">
      <dsp:nvSpPr>
        <dsp:cNvPr id="0" name=""/>
        <dsp:cNvSpPr/>
      </dsp:nvSpPr>
      <dsp:spPr>
        <a:xfrm>
          <a:off x="1463751" y="2772902"/>
          <a:ext cx="9499904" cy="357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Recommended Workflows</a:t>
          </a:r>
        </a:p>
      </dsp:txBody>
      <dsp:txXfrm>
        <a:off x="1463751" y="2772902"/>
        <a:ext cx="9499904" cy="357849"/>
      </dsp:txXfrm>
    </dsp:sp>
    <dsp:sp modelId="{38FC1FC9-9711-4C14-B0B5-E5F39E95B617}">
      <dsp:nvSpPr>
        <dsp:cNvPr id="0" name=""/>
        <dsp:cNvSpPr/>
      </dsp:nvSpPr>
      <dsp:spPr>
        <a:xfrm>
          <a:off x="1463751" y="3130752"/>
          <a:ext cx="9499904" cy="925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Workflows vary by data type: structured data uses .sas7bdat, semi-structured uses JSON, and CSV offers a middle ground.</a:t>
          </a:r>
        </a:p>
      </dsp:txBody>
      <dsp:txXfrm>
        <a:off x="1463751" y="3130752"/>
        <a:ext cx="9499904" cy="925901"/>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10/7/2025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536622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2169537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covers key considerations when uploading data from SAS to Databricks. The agenda includes a comparison between SAS datasets and JSON formats, an overview of storage options in Databricks, SAS code examples for different upload methods, and efficiency considerations for choosing the best approach. Each section provides insights into performance, scalability, and usability to help guide optimal data transfer strategies.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988209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SAS Datasets vs JSON</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61735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When transferring data from SAS to Databricks, choosing between SAS datasets (.sas7bdat) and JSON format significantly impacts performance and usability. SAS datasets are natively compatible with SAS and offer faster read/write speeds due to their binary structure. They typically have smaller file sizes and fixed schemas, making them ideal for structured data analytics. However, integrating SAS datasets with Databricks requires either the SAS/ACCESS Interface to ODBC or exporting to intermediary formats like CSV or Parquet. On the other hand, JSON is a flexible format suitable for semi-structured or hierarchical data. It can be directly loaded into Spark DataFrames in Databricks, but its verbose nature results in larger file sizes and slower processing for large datasets. JSON is best used when dealing with API outputs or nested data structures. Overall, for large, structured datasets such as clinical or financial data, SAS datasets are more efficient for bulk transfer and analytics, while JSON serves niche use cases involving complex data structures.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445555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DBFS, Volumes, and Tables</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274913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Databricks offers multiple storage options for managing uploaded data: DBFS (Databricks File System), Volumes, and Tables (Delta or Parquet). DBFS acts like a mounted file system and is suitable for staging data before processing. It is simple to use but not optimized for repeated queries unless converted to Delta format. Volumes provide persistent storage backed by cloud object stores like S3, ADLS, or GCS. They are scalable and support Delta Lake, making them ideal for large datasets accessed by multiple jobs. However, they require setup and mount configuration. Tables in Databricks, stored as Delta or Parquet files, are optimized for analytics and support ACID transactions, schema enforcement, and updates. They offer the best performance for querying and incremental updates. For analytical workloads, writing directly to Delta Tables is recommended. DBFS and Volumes are better suited for temporary staging or intermediate storage during data pipelines.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32080357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SAS Code for Uploading Data</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153591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test different upload approaches from SAS to Databricks, several code examples can be used. For uploading a SAS dataset to DBFS, use the SAS/ACCESS Interface with an ODBC connection: `libname mydblib odbc dsn='DatabricksDSN'; data mydblib.my_table; set sashelp.class; run;`. To export a SAS dataset to JSON, use: `libname myjson json 'C:\temp\class.json'; data myjson.class; set sashelp.class; run;`. In Databricks, this JSON can be read using Spark: `df = spark.read.json("/dbfs/mnt/data/class.json")`. For CSV export, use `proc export data=sashelp.class outfile="C:\temp\class.csv" dbms=csv replace; run;`, then copy to DBFS and read with: `df = spark.read.csv("dbfs:/mnt/data/class.csv", header=True, inferSchema=True)`. Finally, to write to a Delta Table: `df.write.format("delta").mode("overwrite").saveAsTable("default.class_delta")`. These examples demonstrate various paths for integrating SAS data into Databricks workflows.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3084402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File Format, Storage, and Workflow</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929233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Efficiency in uploading data from SAS to Databricks depends on the chosen file format, target storage, and workflow. SAS datasets (.sas7bdat) are small and fast for structured data, while JSON is flexible but larger and slower. CSV offers a universal format with moderate performance. For storage, DBFS is suitable for intermediate staging, Volumes are best for persistent and scalable storage, and Delta Tables provide optimal performance for analytics and updates. Recommended workflows include: SAS → .sas7bdat → DBFS → Spark → Delta Table for structured data; SAS → JSON → DBFS → Spark → Delta Table for semi-structured data; and SAS → CSV → DBFS/Volumes → Spark → Delta Table as a middle-ground approach. These considerations help balance performance, scalability, and usability in data integration tasks.</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32020422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SAS to Delta Table Workflow</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38551347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workflow for uploading data from SAS to Databricks typically involves several stages. Starting from SAS, data is exported in a suitable format such as .sas7bdat, JSON, or CSV. This data is then uploaded to DBFS or Volumes, which serve as intermediate or persistent storage. Spark within Databricks reads the data and processes it into a structured format. Finally, the data is written into a Delta Table for optimized analytics and querying. This workflow ensures efficient data handling and supports scalable data pipelines. Visualizing this process helps teams understand the integration steps and choose the best path based on their data characteristics and analytical goals.</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3392308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3770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0009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dirty="0"/>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039015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044568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dirty="0"/>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16740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dirty="0"/>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dirty="0"/>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61858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dirty="0"/>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88428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dirty="0"/>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8397197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240755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7168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dirty="0"/>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6303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dirty="0"/>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0877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dirty="0"/>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1545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58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62798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64445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05038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dirty="0"/>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0726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dirty="0"/>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dirty="0"/>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893579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dirty="0"/>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00994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dirty="0"/>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dirty="0"/>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886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dirty="0"/>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8612010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dirty="0"/>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313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dirty="0"/>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869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dirty="0"/>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dirty="0"/>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170958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dirty="0"/>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dirty="0"/>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291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dirty="0"/>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dirty="0"/>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2115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551512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dirty="0"/>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dirty="0"/>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72769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dirty="0"/>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315290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dirty="0"/>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7773561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dirty="0"/>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dirty="0"/>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73767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55429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dirty="0"/>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dirty="0"/>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4696798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dirty="0"/>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322134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dirty="0"/>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68177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dirty="0"/>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77309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36553323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dirty="0"/>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46644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2719884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dirty="0"/>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751178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1543796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dirty="0"/>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224012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dirty="0"/>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56379703"/>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dirty="0"/>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32899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888996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66511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3601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840229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dirty="0"/>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95806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666360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20569987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dirty="0"/>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6246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endParaRPr lang="en-US" dirty="0"/>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17197501"/>
      </p:ext>
    </p:extLst>
  </p:cSld>
  <p:clrMap bg1="lt1" tx1="dk1" bg2="lt2" tx2="dk2" accent1="accent1" accent2="accent2" accent3="accent3" accent4="accent4" accent5="accent5" accent6="accent6" hlink="hlink" folHlink="folHlink"/>
  <p:sldLayoutIdLst>
    <p:sldLayoutId id="2147484168" r:id="rId1"/>
    <p:sldLayoutId id="2147484164" r:id="rId2"/>
    <p:sldLayoutId id="2147484169" r:id="rId3"/>
    <p:sldLayoutId id="2147484170" r:id="rId4"/>
    <p:sldLayoutId id="2147484163" r:id="rId5"/>
    <p:sldLayoutId id="2147484165" r:id="rId6"/>
    <p:sldLayoutId id="2147484166" r:id="rId7"/>
    <p:sldLayoutId id="2147484167"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 id="2147484179" r:id="rId17"/>
    <p:sldLayoutId id="2147484180" r:id="rId18"/>
    <p:sldLayoutId id="2147484181" r:id="rId19"/>
    <p:sldLayoutId id="2147484182" r:id="rId20"/>
    <p:sldLayoutId id="2147484183" r:id="rId21"/>
    <p:sldLayoutId id="2147484184" r:id="rId22"/>
    <p:sldLayoutId id="2147484185" r:id="rId23"/>
    <p:sldLayoutId id="2147484186" r:id="rId24"/>
    <p:sldLayoutId id="2147484187" r:id="rId25"/>
    <p:sldLayoutId id="2147484188" r:id="rId26"/>
    <p:sldLayoutId id="2147484189" r:id="rId27"/>
    <p:sldLayoutId id="2147484190" r:id="rId28"/>
    <p:sldLayoutId id="2147484191" r:id="rId29"/>
    <p:sldLayoutId id="2147484192" r:id="rId30"/>
    <p:sldLayoutId id="2147484193" r:id="rId31"/>
    <p:sldLayoutId id="2147484194" r:id="rId32"/>
    <p:sldLayoutId id="2147484195" r:id="rId33"/>
    <p:sldLayoutId id="2147484196" r:id="rId34"/>
    <p:sldLayoutId id="2147484197" r:id="rId35"/>
    <p:sldLayoutId id="2147484198" r:id="rId36"/>
    <p:sldLayoutId id="2147484199" r:id="rId37"/>
    <p:sldLayoutId id="2147484200" r:id="rId38"/>
    <p:sldLayoutId id="2147484201" r:id="rId39"/>
    <p:sldLayoutId id="2147484202" r:id="rId40"/>
    <p:sldLayoutId id="2147484203" r:id="rId41"/>
    <p:sldLayoutId id="2147484216" r:id="rId42"/>
    <p:sldLayoutId id="2147484205" r:id="rId43"/>
    <p:sldLayoutId id="2147484206" r:id="rId44"/>
    <p:sldLayoutId id="2147484207" r:id="rId45"/>
    <p:sldLayoutId id="2147484208" r:id="rId46"/>
    <p:sldLayoutId id="2147484209" r:id="rId47"/>
    <p:sldLayoutId id="2147484210" r:id="rId48"/>
    <p:sldLayoutId id="2147484211" r:id="rId49"/>
    <p:sldLayoutId id="2147484212" r:id="rId50"/>
    <p:sldLayoutId id="2147484213" r:id="rId51"/>
    <p:sldLayoutId id="2147484214" r:id="rId52"/>
    <p:sldLayoutId id="2147484215"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3438C-FB3E-C0CB-45EC-F62B7C766EFE}"/>
              </a:ext>
            </a:extLst>
          </p:cNvPr>
          <p:cNvSpPr>
            <a:spLocks noGrp="1"/>
          </p:cNvSpPr>
          <p:nvPr>
            <p:ph type="ctrTitle"/>
          </p:nvPr>
        </p:nvSpPr>
        <p:spPr>
          <a:xfrm>
            <a:off x="609600" y="2154268"/>
            <a:ext cx="4856348" cy="1731932"/>
          </a:xfrm>
        </p:spPr>
        <p:txBody>
          <a:bodyPr anchor="b">
            <a:normAutofit/>
          </a:bodyPr>
          <a:lstStyle/>
          <a:p>
            <a:r>
              <a:rPr lang="en-US"/>
              <a:t>Uploading Data from SAS to Databricks</a:t>
            </a:r>
          </a:p>
        </p:txBody>
      </p:sp>
      <p:sp>
        <p:nvSpPr>
          <p:cNvPr id="3" name="Subtitle 2">
            <a:extLst>
              <a:ext uri="{FF2B5EF4-FFF2-40B4-BE49-F238E27FC236}">
                <a16:creationId xmlns:a16="http://schemas.microsoft.com/office/drawing/2014/main" id="{16F0A074-5F1C-FBD0-41D7-E65FE6EDB7D8}"/>
              </a:ext>
            </a:extLst>
          </p:cNvPr>
          <p:cNvSpPr>
            <a:spLocks noGrp="1"/>
          </p:cNvSpPr>
          <p:nvPr>
            <p:ph type="subTitle" idx="1"/>
          </p:nvPr>
        </p:nvSpPr>
        <p:spPr>
          <a:xfrm>
            <a:off x="609600" y="4142852"/>
            <a:ext cx="4856348" cy="2029344"/>
          </a:xfrm>
        </p:spPr>
        <p:txBody>
          <a:bodyPr>
            <a:normAutofit/>
          </a:bodyPr>
          <a:lstStyle/>
          <a:p>
            <a:r>
              <a:rPr lang="en-US"/>
              <a:t>Seamless integration for efficient data management</a:t>
            </a:r>
          </a:p>
        </p:txBody>
      </p:sp>
      <p:pic>
        <p:nvPicPr>
          <p:cNvPr id="4" name="Picture 3" descr="Illuminated server room panel">
            <a:extLst>
              <a:ext uri="{FF2B5EF4-FFF2-40B4-BE49-F238E27FC236}">
                <a16:creationId xmlns:a16="http://schemas.microsoft.com/office/drawing/2014/main" id="{A4CADBB9-30FA-4833-A2A4-0C6796D9688E}"/>
              </a:ext>
            </a:extLst>
          </p:cNvPr>
          <p:cNvPicPr>
            <a:picLocks noChangeAspect="1"/>
          </p:cNvPicPr>
          <p:nvPr/>
        </p:nvPicPr>
        <p:blipFill>
          <a:blip r:embed="rId3"/>
          <a:srcRect l="17402" r="24634" b="1"/>
          <a:stretch>
            <a:fillRect/>
          </a:stretch>
        </p:blipFill>
        <p:spPr>
          <a:xfrm>
            <a:off x="6366168" y="233172"/>
            <a:ext cx="5550408" cy="6391656"/>
          </a:xfrm>
          <a:prstGeom prst="rect">
            <a:avLst/>
          </a:prstGeom>
          <a:noFill/>
        </p:spPr>
      </p:pic>
    </p:spTree>
    <p:extLst>
      <p:ext uri="{BB962C8B-B14F-4D97-AF65-F5344CB8AC3E}">
        <p14:creationId xmlns:p14="http://schemas.microsoft.com/office/powerpoint/2010/main" val="927371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1D3C9-4CFE-F299-2417-239C3D0EB0A2}"/>
              </a:ext>
            </a:extLst>
          </p:cNvPr>
          <p:cNvSpPr>
            <a:spLocks noGrp="1"/>
          </p:cNvSpPr>
          <p:nvPr>
            <p:ph type="ctrTitle"/>
          </p:nvPr>
        </p:nvSpPr>
        <p:spPr>
          <a:xfrm>
            <a:off x="612648" y="1417671"/>
            <a:ext cx="7909560" cy="4754529"/>
          </a:xfrm>
        </p:spPr>
        <p:txBody>
          <a:bodyPr anchor="b">
            <a:normAutofit/>
          </a:bodyPr>
          <a:lstStyle/>
          <a:p>
            <a:r>
              <a:rPr lang="en-US"/>
              <a:t>Overview</a:t>
            </a:r>
          </a:p>
        </p:txBody>
      </p:sp>
    </p:spTree>
    <p:extLst>
      <p:ext uri="{BB962C8B-B14F-4D97-AF65-F5344CB8AC3E}">
        <p14:creationId xmlns:p14="http://schemas.microsoft.com/office/powerpoint/2010/main" val="25468281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1DA29-7F41-BF1F-47C9-514BC9A91E30}"/>
              </a:ext>
            </a:extLst>
          </p:cNvPr>
          <p:cNvSpPr>
            <a:spLocks noGrp="1"/>
          </p:cNvSpPr>
          <p:nvPr>
            <p:ph type="title"/>
          </p:nvPr>
        </p:nvSpPr>
        <p:spPr>
          <a:xfrm>
            <a:off x="609600" y="709099"/>
            <a:ext cx="8019289" cy="891101"/>
          </a:xfrm>
        </p:spPr>
        <p:txBody>
          <a:bodyPr anchor="b">
            <a:normAutofit/>
          </a:bodyPr>
          <a:lstStyle/>
          <a:p>
            <a:r>
              <a:rPr lang="en-US"/>
              <a:t>Agenda</a:t>
            </a:r>
          </a:p>
        </p:txBody>
      </p:sp>
      <p:sp>
        <p:nvSpPr>
          <p:cNvPr id="4" name="Content Placeholder 3">
            <a:extLst>
              <a:ext uri="{FF2B5EF4-FFF2-40B4-BE49-F238E27FC236}">
                <a16:creationId xmlns:a16="http://schemas.microsoft.com/office/drawing/2014/main" id="{61C37450-DAD9-2B26-AE4E-EDD33AFD0A0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b="1"/>
              <a:t>Data Format Comparison</a:t>
            </a:r>
          </a:p>
          <a:p>
            <a:pPr marL="0" lvl="1" indent="0">
              <a:buFont typeface="Arial" panose="020B0604020202020204" pitchFamily="34" charset="0"/>
              <a:buNone/>
            </a:pPr>
            <a:r>
              <a:t>Compare SAS datasets with JSON formats to understand their structure and use cases in data uploads.</a:t>
            </a:r>
            <a:endParaRPr lang="en-US"/>
          </a:p>
          <a:p>
            <a:pPr marL="0" indent="0">
              <a:spcBef>
                <a:spcPts val="2500"/>
              </a:spcBef>
              <a:buFont typeface="Arial" panose="020B0604020202020204" pitchFamily="34" charset="0"/>
              <a:buNone/>
            </a:pPr>
            <a:r>
              <a:rPr lang="en-US" b="1"/>
              <a:t>Databricks Storage Options</a:t>
            </a:r>
          </a:p>
          <a:p>
            <a:pPr marL="0" lvl="1" indent="0">
              <a:buFont typeface="Arial" panose="020B0604020202020204" pitchFamily="34" charset="0"/>
              <a:buNone/>
            </a:pPr>
            <a:r>
              <a:t>Overview of different storage options available in Databricks for efficient data management and access.</a:t>
            </a:r>
            <a:endParaRPr lang="en-US"/>
          </a:p>
          <a:p>
            <a:pPr marL="0" indent="0">
              <a:spcBef>
                <a:spcPts val="2500"/>
              </a:spcBef>
              <a:buFont typeface="Arial" panose="020B0604020202020204" pitchFamily="34" charset="0"/>
              <a:buNone/>
            </a:pPr>
            <a:r>
              <a:rPr lang="en-US" b="1"/>
              <a:t>SAS Upload Code Examples</a:t>
            </a:r>
          </a:p>
          <a:p>
            <a:pPr marL="0" lvl="1" indent="0">
              <a:buFont typeface="Arial" panose="020B0604020202020204" pitchFamily="34" charset="0"/>
              <a:buNone/>
            </a:pPr>
            <a:r>
              <a:t>Demonstrate SAS code examples showcasing various methods to upload data to Databricks.</a:t>
            </a:r>
            <a:endParaRPr lang="en-US"/>
          </a:p>
          <a:p>
            <a:pPr marL="0" indent="0">
              <a:spcBef>
                <a:spcPts val="2500"/>
              </a:spcBef>
              <a:buFont typeface="Arial" panose="020B0604020202020204" pitchFamily="34" charset="0"/>
              <a:buNone/>
            </a:pPr>
            <a:r>
              <a:rPr lang="en-US" b="1"/>
              <a:t>Efficiency Considerations</a:t>
            </a:r>
          </a:p>
          <a:p>
            <a:pPr marL="0" lvl="1" indent="0">
              <a:buFont typeface="Arial" panose="020B0604020202020204" pitchFamily="34" charset="0"/>
              <a:buNone/>
            </a:pPr>
            <a:r>
              <a:t>Discuss factors affecting performance, scalability, and usability to select the best upload strategy.</a:t>
            </a:r>
            <a:endParaRPr lang="en-US"/>
          </a:p>
        </p:txBody>
      </p:sp>
      <p:pic>
        <p:nvPicPr>
          <p:cNvPr id="5" name="Content Placeholder 4" descr="Cloud Computing">
            <a:extLst>
              <a:ext uri="{FF2B5EF4-FFF2-40B4-BE49-F238E27FC236}">
                <a16:creationId xmlns:a16="http://schemas.microsoft.com/office/drawing/2014/main" id="{6CC76B23-3247-47F6-B8A7-9CF1792DD589}"/>
              </a:ext>
            </a:extLst>
          </p:cNvPr>
          <p:cNvPicPr>
            <a:picLocks noGrp="1" noChangeAspect="1"/>
          </p:cNvPicPr>
          <p:nvPr>
            <p:ph type="pic" sz="quarter" idx="18"/>
          </p:nvPr>
        </p:nvPicPr>
        <p:blipFill>
          <a:blip r:embed="rId3"/>
          <a:srcRect l="26469" r="45052" b="-1"/>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16151427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F4684-A564-9FEA-5387-CF569C7AC667}"/>
              </a:ext>
            </a:extLst>
          </p:cNvPr>
          <p:cNvSpPr>
            <a:spLocks noGrp="1"/>
          </p:cNvSpPr>
          <p:nvPr>
            <p:ph type="ctrTitle"/>
          </p:nvPr>
        </p:nvSpPr>
        <p:spPr>
          <a:xfrm>
            <a:off x="612648" y="1417671"/>
            <a:ext cx="7909560" cy="4754529"/>
          </a:xfrm>
        </p:spPr>
        <p:txBody>
          <a:bodyPr anchor="b">
            <a:normAutofit/>
          </a:bodyPr>
          <a:lstStyle/>
          <a:p>
            <a:r>
              <a:rPr lang="en-US"/>
              <a:t>Data Format Comparison</a:t>
            </a:r>
          </a:p>
        </p:txBody>
      </p:sp>
    </p:spTree>
    <p:extLst>
      <p:ext uri="{BB962C8B-B14F-4D97-AF65-F5344CB8AC3E}">
        <p14:creationId xmlns:p14="http://schemas.microsoft.com/office/powerpoint/2010/main" val="1093048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10687-114D-E186-7099-017517AF2823}"/>
              </a:ext>
            </a:extLst>
          </p:cNvPr>
          <p:cNvSpPr>
            <a:spLocks noGrp="1"/>
          </p:cNvSpPr>
          <p:nvPr>
            <p:ph type="title"/>
          </p:nvPr>
        </p:nvSpPr>
        <p:spPr>
          <a:xfrm>
            <a:off x="612647" y="709099"/>
            <a:ext cx="10963656" cy="891101"/>
          </a:xfrm>
        </p:spPr>
        <p:txBody>
          <a:bodyPr anchor="b">
            <a:normAutofit/>
          </a:bodyPr>
          <a:lstStyle/>
          <a:p>
            <a:r>
              <a:rPr lang="en-US"/>
              <a:t>SAS Datasets vs JSON</a:t>
            </a:r>
          </a:p>
        </p:txBody>
      </p:sp>
      <p:graphicFrame>
        <p:nvGraphicFramePr>
          <p:cNvPr id="5" name="Content Placeholder 4">
            <a:extLst>
              <a:ext uri="{FF2B5EF4-FFF2-40B4-BE49-F238E27FC236}">
                <a16:creationId xmlns:a16="http://schemas.microsoft.com/office/drawing/2014/main" id="{562C7699-BD2E-450C-96BC-E42318667303}"/>
              </a:ext>
            </a:extLst>
          </p:cNvPr>
          <p:cNvGraphicFramePr>
            <a:graphicFrameLocks noGrp="1"/>
          </p:cNvGraphicFramePr>
          <p:nvPr>
            <p:ph idx="1"/>
          </p:nvPr>
        </p:nvGraphicFramePr>
        <p:xfrm>
          <a:off x="878992" y="2119673"/>
          <a:ext cx="10430967" cy="4057295"/>
        </p:xfrm>
        <a:graphic>
          <a:graphicData uri="http://schemas.openxmlformats.org/drawingml/2006/table">
            <a:tbl>
              <a:tblPr firstRow="1" bandRow="1">
                <a:noFill/>
                <a:tableStyleId>{5C22544A-7EE6-4342-B048-85BDC9FD1C3A}</a:tableStyleId>
              </a:tblPr>
              <a:tblGrid>
                <a:gridCol w="3229605">
                  <a:extLst>
                    <a:ext uri="{9D8B030D-6E8A-4147-A177-3AD203B41FA5}">
                      <a16:colId xmlns:a16="http://schemas.microsoft.com/office/drawing/2014/main" val="3910603224"/>
                    </a:ext>
                  </a:extLst>
                </a:gridCol>
                <a:gridCol w="3600681">
                  <a:extLst>
                    <a:ext uri="{9D8B030D-6E8A-4147-A177-3AD203B41FA5}">
                      <a16:colId xmlns:a16="http://schemas.microsoft.com/office/drawing/2014/main" val="531135704"/>
                    </a:ext>
                  </a:extLst>
                </a:gridCol>
                <a:gridCol w="3600681">
                  <a:extLst>
                    <a:ext uri="{9D8B030D-6E8A-4147-A177-3AD203B41FA5}">
                      <a16:colId xmlns:a16="http://schemas.microsoft.com/office/drawing/2014/main" val="284477990"/>
                    </a:ext>
                  </a:extLst>
                </a:gridCol>
              </a:tblGrid>
              <a:tr h="546578">
                <a:tc>
                  <a:txBody>
                    <a:bodyPr/>
                    <a:lstStyle/>
                    <a:p>
                      <a:pPr>
                        <a:buNone/>
                      </a:pPr>
                      <a:r>
                        <a:rPr lang="en-US" sz="1600" b="1" cap="all" spc="150">
                          <a:solidFill>
                            <a:schemeClr val="tx1"/>
                          </a:solidFill>
                        </a:rPr>
                        <a:t>Feature</a:t>
                      </a:r>
                    </a:p>
                  </a:txBody>
                  <a:tcPr marL="135143" marR="135143" marT="135143" marB="135143"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a:solidFill>
                            <a:schemeClr val="tx1"/>
                          </a:solidFill>
                        </a:rPr>
                        <a:t>SAS Dataset (.sas7bdat)</a:t>
                      </a:r>
                    </a:p>
                  </a:txBody>
                  <a:tcPr marL="135143" marR="135143" marT="135143" marB="135143"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a:solidFill>
                            <a:schemeClr val="tx1"/>
                          </a:solidFill>
                        </a:rPr>
                        <a:t>JSON</a:t>
                      </a:r>
                    </a:p>
                  </a:txBody>
                  <a:tcPr marL="135143" marR="135143" marT="135143" marB="135143"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2613636961"/>
                  </a:ext>
                </a:extLst>
              </a:tr>
              <a:tr h="501531">
                <a:tc>
                  <a:txBody>
                    <a:bodyPr/>
                    <a:lstStyle/>
                    <a:p>
                      <a:pPr>
                        <a:buNone/>
                      </a:pPr>
                      <a:r>
                        <a:rPr lang="en-US" sz="1300" b="1" cap="none" spc="0">
                          <a:solidFill>
                            <a:schemeClr val="tx1"/>
                          </a:solidFill>
                        </a:rPr>
                        <a:t>Native Compatibility</a:t>
                      </a:r>
                    </a:p>
                  </a:txBody>
                  <a:tcPr marL="135143" marR="135143" marT="135143" marB="13514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300" cap="none" spc="0">
                          <a:solidFill>
                            <a:schemeClr val="tx1"/>
                          </a:solidFill>
                        </a:rPr>
                        <a:t>Native to SAS; can be read easily</a:t>
                      </a:r>
                    </a:p>
                  </a:txBody>
                  <a:tcPr marL="135143" marR="135143" marT="135143" marB="13514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300" cap="none" spc="0">
                          <a:solidFill>
                            <a:schemeClr val="tx1"/>
                          </a:solidFill>
                        </a:rPr>
                        <a:t>Needs parsing in Databricks</a:t>
                      </a:r>
                    </a:p>
                  </a:txBody>
                  <a:tcPr marL="135143" marR="135143" marT="135143" marB="13514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3099664412"/>
                  </a:ext>
                </a:extLst>
              </a:tr>
              <a:tr h="501531">
                <a:tc>
                  <a:txBody>
                    <a:bodyPr/>
                    <a:lstStyle/>
                    <a:p>
                      <a:pPr>
                        <a:buNone/>
                      </a:pPr>
                      <a:r>
                        <a:rPr lang="en-US" sz="1300" b="1" cap="none" spc="0">
                          <a:solidFill>
                            <a:schemeClr val="tx1"/>
                          </a:solidFill>
                        </a:rPr>
                        <a:t>File Size</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300" cap="none" spc="0">
                          <a:solidFill>
                            <a:schemeClr val="tx1"/>
                          </a:solidFill>
                        </a:rPr>
                        <a:t>Usually smaller; binary</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300" cap="none" spc="0">
                          <a:solidFill>
                            <a:schemeClr val="tx1"/>
                          </a:solidFill>
                        </a:rPr>
                        <a:t>Larger; verbose text</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4674601"/>
                  </a:ext>
                </a:extLst>
              </a:tr>
              <a:tr h="501531">
                <a:tc>
                  <a:txBody>
                    <a:bodyPr/>
                    <a:lstStyle/>
                    <a:p>
                      <a:pPr>
                        <a:buNone/>
                      </a:pPr>
                      <a:r>
                        <a:rPr lang="en-US" sz="1300" b="1" cap="none" spc="0">
                          <a:solidFill>
                            <a:schemeClr val="tx1"/>
                          </a:solidFill>
                        </a:rPr>
                        <a:t>Read/Write Speed</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300" cap="none" spc="0">
                          <a:solidFill>
                            <a:schemeClr val="tx1"/>
                          </a:solidFill>
                        </a:rPr>
                        <a:t>Faster for bulk upload</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300" cap="none" spc="0">
                          <a:solidFill>
                            <a:schemeClr val="tx1"/>
                          </a:solidFill>
                        </a:rPr>
                        <a:t>Slower for large datasets</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407652408"/>
                  </a:ext>
                </a:extLst>
              </a:tr>
              <a:tr h="501531">
                <a:tc>
                  <a:txBody>
                    <a:bodyPr/>
                    <a:lstStyle/>
                    <a:p>
                      <a:pPr>
                        <a:buNone/>
                      </a:pPr>
                      <a:r>
                        <a:rPr lang="en-US" sz="1300" b="1" cap="none" spc="0">
                          <a:solidFill>
                            <a:schemeClr val="tx1"/>
                          </a:solidFill>
                        </a:rPr>
                        <a:t>Schema Handling</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300" cap="none" spc="0">
                          <a:solidFill>
                            <a:schemeClr val="tx1"/>
                          </a:solidFill>
                        </a:rPr>
                        <a:t>Fixed schema</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300" cap="none" spc="0">
                          <a:solidFill>
                            <a:schemeClr val="tx1"/>
                          </a:solidFill>
                        </a:rPr>
                        <a:t>Flexible schema</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30884068"/>
                  </a:ext>
                </a:extLst>
              </a:tr>
              <a:tr h="501531">
                <a:tc>
                  <a:txBody>
                    <a:bodyPr/>
                    <a:lstStyle/>
                    <a:p>
                      <a:pPr>
                        <a:buNone/>
                      </a:pPr>
                      <a:r>
                        <a:rPr lang="en-US" sz="1300" b="1" cap="none" spc="0">
                          <a:solidFill>
                            <a:schemeClr val="tx1"/>
                          </a:solidFill>
                        </a:rPr>
                        <a:t>Databricks Integration</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300" cap="none" spc="0">
                          <a:solidFill>
                            <a:schemeClr val="tx1"/>
                          </a:solidFill>
                        </a:rPr>
                        <a:t>Needs SAS/ACCESS or export</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300" cap="none" spc="0">
                          <a:solidFill>
                            <a:schemeClr val="tx1"/>
                          </a:solidFill>
                        </a:rPr>
                        <a:t>Can load directly into Spark</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49903044"/>
                  </a:ext>
                </a:extLst>
              </a:tr>
              <a:tr h="501531">
                <a:tc>
                  <a:txBody>
                    <a:bodyPr/>
                    <a:lstStyle/>
                    <a:p>
                      <a:pPr>
                        <a:buNone/>
                      </a:pPr>
                      <a:r>
                        <a:rPr lang="en-US" sz="1300" b="1" cap="none" spc="0">
                          <a:solidFill>
                            <a:schemeClr val="tx1"/>
                          </a:solidFill>
                        </a:rPr>
                        <a:t>Best Use Case</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300" cap="none" spc="0">
                          <a:solidFill>
                            <a:schemeClr val="tx1"/>
                          </a:solidFill>
                        </a:rPr>
                        <a:t>Large tabular datasets</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300" cap="none" spc="0">
                          <a:solidFill>
                            <a:schemeClr val="tx1"/>
                          </a:solidFill>
                        </a:rPr>
                        <a:t>Semi-structured or API output</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711878677"/>
                  </a:ext>
                </a:extLst>
              </a:tr>
              <a:tr h="501531">
                <a:tc>
                  <a:txBody>
                    <a:bodyPr/>
                    <a:lstStyle/>
                    <a:p>
                      <a:pPr>
                        <a:buNone/>
                      </a:pPr>
                      <a:r>
                        <a:rPr lang="en-US" sz="1300" b="1" cap="none" spc="0">
                          <a:solidFill>
                            <a:schemeClr val="tx1"/>
                          </a:solidFill>
                        </a:rPr>
                        <a:t>Conclusion</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300" cap="none" spc="0">
                          <a:solidFill>
                            <a:schemeClr val="tx1"/>
                          </a:solidFill>
                        </a:rPr>
                        <a:t>.sas7bdat is more efficient</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300" cap="none" spc="0">
                          <a:solidFill>
                            <a:schemeClr val="tx1"/>
                          </a:solidFill>
                        </a:rPr>
                        <a:t>JSON for nested data</a:t>
                      </a:r>
                    </a:p>
                  </a:txBody>
                  <a:tcPr marL="135143" marR="135143" marT="135143" marB="13514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519629554"/>
                  </a:ext>
                </a:extLst>
              </a:tr>
            </a:tbl>
          </a:graphicData>
        </a:graphic>
      </p:graphicFrame>
    </p:spTree>
    <p:extLst>
      <p:ext uri="{BB962C8B-B14F-4D97-AF65-F5344CB8AC3E}">
        <p14:creationId xmlns:p14="http://schemas.microsoft.com/office/powerpoint/2010/main" val="47291928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3C3A8-DA86-5426-B237-21D24C0B502E}"/>
              </a:ext>
            </a:extLst>
          </p:cNvPr>
          <p:cNvSpPr>
            <a:spLocks noGrp="1"/>
          </p:cNvSpPr>
          <p:nvPr>
            <p:ph type="ctrTitle"/>
          </p:nvPr>
        </p:nvSpPr>
        <p:spPr>
          <a:xfrm>
            <a:off x="612648" y="1417671"/>
            <a:ext cx="7909560" cy="4754529"/>
          </a:xfrm>
        </p:spPr>
        <p:txBody>
          <a:bodyPr anchor="b">
            <a:normAutofit/>
          </a:bodyPr>
          <a:lstStyle/>
          <a:p>
            <a:r>
              <a:rPr lang="en-US"/>
              <a:t>Storage Options in Databricks</a:t>
            </a:r>
          </a:p>
        </p:txBody>
      </p:sp>
    </p:spTree>
    <p:extLst>
      <p:ext uri="{BB962C8B-B14F-4D97-AF65-F5344CB8AC3E}">
        <p14:creationId xmlns:p14="http://schemas.microsoft.com/office/powerpoint/2010/main" val="14637165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286F-D3AC-4C33-A360-59E7A8408297}"/>
              </a:ext>
            </a:extLst>
          </p:cNvPr>
          <p:cNvSpPr>
            <a:spLocks noGrp="1"/>
          </p:cNvSpPr>
          <p:nvPr>
            <p:ph type="title"/>
          </p:nvPr>
        </p:nvSpPr>
        <p:spPr>
          <a:xfrm>
            <a:off x="612647" y="709099"/>
            <a:ext cx="3956305" cy="891101"/>
          </a:xfrm>
        </p:spPr>
        <p:txBody>
          <a:bodyPr anchor="b">
            <a:normAutofit/>
          </a:bodyPr>
          <a:lstStyle/>
          <a:p>
            <a:r>
              <a:rPr lang="en-US"/>
              <a:t>DBFS, Volumes, and Tables</a:t>
            </a:r>
          </a:p>
        </p:txBody>
      </p:sp>
      <p:pic>
        <p:nvPicPr>
          <p:cNvPr id="5" name="Content Placeholder 4" descr="Cloud with folders on digital display">
            <a:extLst>
              <a:ext uri="{FF2B5EF4-FFF2-40B4-BE49-F238E27FC236}">
                <a16:creationId xmlns:a16="http://schemas.microsoft.com/office/drawing/2014/main" id="{242F0C21-8677-46B3-9A42-F5AA6FDA91BB}"/>
              </a:ext>
            </a:extLst>
          </p:cNvPr>
          <p:cNvPicPr>
            <a:picLocks noGrp="1" noChangeAspect="1"/>
          </p:cNvPicPr>
          <p:nvPr>
            <p:ph type="pic" sz="quarter" idx="15"/>
          </p:nvPr>
        </p:nvPicPr>
        <p:blipFill>
          <a:blip r:embed="rId3"/>
          <a:stretch/>
        </p:blipFill>
        <p:spPr>
          <a:xfrm>
            <a:off x="986599" y="2767068"/>
            <a:ext cx="4224528" cy="2819872"/>
          </a:xfrm>
          <a:prstGeom prst="rect">
            <a:avLst/>
          </a:prstGeom>
          <a:noFill/>
        </p:spPr>
      </p:pic>
      <p:sp>
        <p:nvSpPr>
          <p:cNvPr id="4" name="Content Placeholder 3">
            <a:extLst>
              <a:ext uri="{FF2B5EF4-FFF2-40B4-BE49-F238E27FC236}">
                <a16:creationId xmlns:a16="http://schemas.microsoft.com/office/drawing/2014/main" id="{F6712638-7E6B-A1C4-71D5-772DF8A70F3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5999" y="732155"/>
            <a:ext cx="5486401" cy="5405377"/>
          </a:xfrm>
        </p:spPr>
        <p:txBody>
          <a:bodyPr>
            <a:normAutofit/>
          </a:bodyPr>
          <a:lstStyle/>
          <a:p>
            <a:pPr marL="0" indent="0">
              <a:spcBef>
                <a:spcPts val="2500"/>
              </a:spcBef>
              <a:buFont typeface="Arial" panose="020B0604020202020204" pitchFamily="34" charset="0"/>
              <a:buNone/>
            </a:pPr>
            <a:r>
              <a:rPr lang="en-US" b="1"/>
              <a:t>Databricks File System (DBFS)</a:t>
            </a:r>
          </a:p>
          <a:p>
            <a:pPr marL="0" lvl="1" indent="0">
              <a:buFont typeface="Arial" panose="020B0604020202020204" pitchFamily="34" charset="0"/>
              <a:buNone/>
            </a:pPr>
            <a:r>
              <a:t>DBFS acts as a mounted file system for staging data before processing, simple to use but less optimized for repeated queries.</a:t>
            </a:r>
            <a:endParaRPr lang="en-US"/>
          </a:p>
          <a:p>
            <a:pPr marL="0" indent="0">
              <a:spcBef>
                <a:spcPts val="2500"/>
              </a:spcBef>
              <a:buFont typeface="Arial" panose="020B0604020202020204" pitchFamily="34" charset="0"/>
              <a:buNone/>
            </a:pPr>
            <a:r>
              <a:rPr lang="en-US" b="1"/>
              <a:t>Persistent Cloud Volumes</a:t>
            </a:r>
          </a:p>
          <a:p>
            <a:pPr marL="0" lvl="1" indent="0">
              <a:buFont typeface="Arial" panose="020B0604020202020204" pitchFamily="34" charset="0"/>
              <a:buNone/>
            </a:pPr>
            <a:r>
              <a:t>Volumes provide scalable, persistent storage backed by cloud object stores, supporting Delta Lake for large dataset access.</a:t>
            </a:r>
            <a:endParaRPr lang="en-US"/>
          </a:p>
          <a:p>
            <a:pPr marL="0" indent="0">
              <a:spcBef>
                <a:spcPts val="2500"/>
              </a:spcBef>
              <a:buFont typeface="Arial" panose="020B0604020202020204" pitchFamily="34" charset="0"/>
              <a:buNone/>
            </a:pPr>
            <a:r>
              <a:rPr lang="en-US" b="1"/>
              <a:t>Optimized Delta Tables</a:t>
            </a:r>
          </a:p>
          <a:p>
            <a:pPr marL="0" lvl="1" indent="0">
              <a:buFont typeface="Arial" panose="020B0604020202020204" pitchFamily="34" charset="0"/>
              <a:buNone/>
            </a:pPr>
            <a:r>
              <a:t>Tables stored as Delta or Parquet files support ACID, schema enforcement, and deliver best performance for queries and updates.</a:t>
            </a:r>
            <a:endParaRPr lang="en-US"/>
          </a:p>
          <a:p>
            <a:pPr marL="0" indent="0">
              <a:spcBef>
                <a:spcPts val="2500"/>
              </a:spcBef>
              <a:buFont typeface="Arial" panose="020B0604020202020204" pitchFamily="34" charset="0"/>
              <a:buNone/>
            </a:pPr>
            <a:r>
              <a:rPr lang="en-US" b="1"/>
              <a:t>Recommended Usage Scenarios</a:t>
            </a:r>
          </a:p>
          <a:p>
            <a:pPr marL="0" lvl="1" indent="0">
              <a:buFont typeface="Arial" panose="020B0604020202020204" pitchFamily="34" charset="0"/>
              <a:buNone/>
            </a:pPr>
            <a:r>
              <a:t>Use Delta Tables for analytics and incremental updates; DBFS and Volumes serve well for staging and intermediate storage.</a:t>
            </a:r>
            <a:endParaRPr lang="en-US"/>
          </a:p>
        </p:txBody>
      </p:sp>
    </p:spTree>
    <p:extLst>
      <p:ext uri="{BB962C8B-B14F-4D97-AF65-F5344CB8AC3E}">
        <p14:creationId xmlns:p14="http://schemas.microsoft.com/office/powerpoint/2010/main" val="160416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AB00A-6022-C579-D27A-1DD1AA79F5EF}"/>
              </a:ext>
            </a:extLst>
          </p:cNvPr>
          <p:cNvSpPr>
            <a:spLocks noGrp="1"/>
          </p:cNvSpPr>
          <p:nvPr>
            <p:ph type="ctrTitle"/>
          </p:nvPr>
        </p:nvSpPr>
        <p:spPr>
          <a:xfrm>
            <a:off x="612648" y="1417671"/>
            <a:ext cx="7909560" cy="4754529"/>
          </a:xfrm>
        </p:spPr>
        <p:txBody>
          <a:bodyPr anchor="b">
            <a:normAutofit/>
          </a:bodyPr>
          <a:lstStyle/>
          <a:p>
            <a:r>
              <a:rPr lang="en-US" sz="6000"/>
              <a:t>Implementation Examples</a:t>
            </a:r>
          </a:p>
        </p:txBody>
      </p:sp>
    </p:spTree>
    <p:extLst>
      <p:ext uri="{BB962C8B-B14F-4D97-AF65-F5344CB8AC3E}">
        <p14:creationId xmlns:p14="http://schemas.microsoft.com/office/powerpoint/2010/main" val="7150266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2F52D-F6EA-9C93-8C6C-C929F97A41D7}"/>
              </a:ext>
            </a:extLst>
          </p:cNvPr>
          <p:cNvSpPr>
            <a:spLocks noGrp="1"/>
          </p:cNvSpPr>
          <p:nvPr>
            <p:ph type="title"/>
          </p:nvPr>
        </p:nvSpPr>
        <p:spPr>
          <a:xfrm>
            <a:off x="609600" y="709099"/>
            <a:ext cx="8019289" cy="891101"/>
          </a:xfrm>
        </p:spPr>
        <p:txBody>
          <a:bodyPr anchor="b">
            <a:normAutofit/>
          </a:bodyPr>
          <a:lstStyle/>
          <a:p>
            <a:r>
              <a:rPr lang="en-US"/>
              <a:t>SAS Code for Uploading Data</a:t>
            </a:r>
          </a:p>
        </p:txBody>
      </p:sp>
      <p:sp>
        <p:nvSpPr>
          <p:cNvPr id="4" name="Content Placeholder 3">
            <a:extLst>
              <a:ext uri="{FF2B5EF4-FFF2-40B4-BE49-F238E27FC236}">
                <a16:creationId xmlns:a16="http://schemas.microsoft.com/office/drawing/2014/main" id="{52CD2822-2CC0-707A-D51D-8FD8CC2B0BD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sz="1300" b="1"/>
              <a:t>Uploading SAS Dataset via ODBC</a:t>
            </a:r>
          </a:p>
          <a:p>
            <a:pPr marL="0" lvl="1" indent="0">
              <a:buFont typeface="Arial" panose="020B0604020202020204" pitchFamily="34" charset="0"/>
              <a:buNone/>
            </a:pPr>
            <a:r>
              <a:rPr lang="en-US" sz="1300"/>
              <a:t>Use SAS/ACCESS Interface with ODBC to upload SAS datasets directly to Databricks File System (DBFS).</a:t>
            </a:r>
          </a:p>
          <a:p>
            <a:pPr marL="0" indent="0">
              <a:spcBef>
                <a:spcPts val="2500"/>
              </a:spcBef>
              <a:buFont typeface="Arial" panose="020B0604020202020204" pitchFamily="34" charset="0"/>
              <a:buNone/>
            </a:pPr>
            <a:r>
              <a:rPr lang="en-US" sz="1300" b="1"/>
              <a:t>Exporting and Reading JSON Data</a:t>
            </a:r>
          </a:p>
          <a:p>
            <a:pPr marL="0" lvl="1" indent="0">
              <a:buFont typeface="Arial" panose="020B0604020202020204" pitchFamily="34" charset="0"/>
              <a:buNone/>
            </a:pPr>
            <a:r>
              <a:rPr lang="en-US" sz="1300"/>
              <a:t>Export SAS datasets to JSON and load into Databricks using Spark's JSON reader for flexible data integration.</a:t>
            </a:r>
          </a:p>
          <a:p>
            <a:pPr marL="0" indent="0">
              <a:spcBef>
                <a:spcPts val="2500"/>
              </a:spcBef>
              <a:buFont typeface="Arial" panose="020B0604020202020204" pitchFamily="34" charset="0"/>
              <a:buNone/>
            </a:pPr>
            <a:r>
              <a:rPr lang="en-US" sz="1300" b="1"/>
              <a:t>CSV Export and Spark Reading</a:t>
            </a:r>
          </a:p>
          <a:p>
            <a:pPr marL="0" lvl="1" indent="0">
              <a:buFont typeface="Arial" panose="020B0604020202020204" pitchFamily="34" charset="0"/>
              <a:buNone/>
            </a:pPr>
            <a:r>
              <a:rPr lang="en-US" sz="1300"/>
              <a:t>Export SAS data as CSV, transfer to DBFS, and read with Spark for schema inference and header recognition.</a:t>
            </a:r>
          </a:p>
          <a:p>
            <a:pPr marL="0" indent="0">
              <a:spcBef>
                <a:spcPts val="2500"/>
              </a:spcBef>
              <a:buFont typeface="Arial" panose="020B0604020202020204" pitchFamily="34" charset="0"/>
              <a:buNone/>
            </a:pPr>
            <a:r>
              <a:rPr lang="en-US" sz="1300" b="1"/>
              <a:t>Writing Data to Delta Tables</a:t>
            </a:r>
          </a:p>
          <a:p>
            <a:pPr marL="0" lvl="1" indent="0">
              <a:buFont typeface="Arial" panose="020B0604020202020204" pitchFamily="34" charset="0"/>
              <a:buNone/>
            </a:pPr>
            <a:r>
              <a:rPr lang="en-US" sz="1300"/>
              <a:t>Write Spark data frames to Delta Lake tables using overwrite mode to update Databricks data storage.</a:t>
            </a:r>
          </a:p>
        </p:txBody>
      </p:sp>
      <p:pic>
        <p:nvPicPr>
          <p:cNvPr id="5" name="Content Placeholder 4" descr="abstract programm binary code  and colored array cube Database">
            <a:extLst>
              <a:ext uri="{FF2B5EF4-FFF2-40B4-BE49-F238E27FC236}">
                <a16:creationId xmlns:a16="http://schemas.microsoft.com/office/drawing/2014/main" id="{4598B186-BE8F-415F-A63D-90BBC3A9E407}"/>
              </a:ext>
            </a:extLst>
          </p:cNvPr>
          <p:cNvPicPr>
            <a:picLocks noGrp="1" noChangeAspect="1"/>
          </p:cNvPicPr>
          <p:nvPr>
            <p:ph type="pic" sz="quarter" idx="18"/>
          </p:nvPr>
        </p:nvPicPr>
        <p:blipFill>
          <a:blip r:embed="rId3"/>
          <a:srcRect l="62484" r="14354"/>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38528562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B7E35-6B4A-21F4-2AAA-40C721F1F456}"/>
              </a:ext>
            </a:extLst>
          </p:cNvPr>
          <p:cNvSpPr>
            <a:spLocks noGrp="1"/>
          </p:cNvSpPr>
          <p:nvPr>
            <p:ph type="ctrTitle"/>
          </p:nvPr>
        </p:nvSpPr>
        <p:spPr>
          <a:xfrm>
            <a:off x="612648" y="1417671"/>
            <a:ext cx="7909560" cy="4754529"/>
          </a:xfrm>
        </p:spPr>
        <p:txBody>
          <a:bodyPr anchor="b">
            <a:normAutofit/>
          </a:bodyPr>
          <a:lstStyle/>
          <a:p>
            <a:r>
              <a:rPr lang="en-US" sz="6500"/>
              <a:t>Efficiency Considerations</a:t>
            </a:r>
          </a:p>
        </p:txBody>
      </p:sp>
    </p:spTree>
    <p:extLst>
      <p:ext uri="{BB962C8B-B14F-4D97-AF65-F5344CB8AC3E}">
        <p14:creationId xmlns:p14="http://schemas.microsoft.com/office/powerpoint/2010/main" val="34409139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975AD-4EAF-5D1F-A780-D93FE1CC8F29}"/>
              </a:ext>
            </a:extLst>
          </p:cNvPr>
          <p:cNvSpPr>
            <a:spLocks noGrp="1"/>
          </p:cNvSpPr>
          <p:nvPr>
            <p:ph type="title"/>
          </p:nvPr>
        </p:nvSpPr>
        <p:spPr>
          <a:xfrm>
            <a:off x="612647" y="709099"/>
            <a:ext cx="10963656" cy="891101"/>
          </a:xfrm>
        </p:spPr>
        <p:txBody>
          <a:bodyPr anchor="b">
            <a:normAutofit/>
          </a:bodyPr>
          <a:lstStyle/>
          <a:p>
            <a:r>
              <a:rPr lang="en-US"/>
              <a:t>File Format, Storage, and Workflow</a:t>
            </a:r>
          </a:p>
        </p:txBody>
      </p:sp>
      <p:graphicFrame>
        <p:nvGraphicFramePr>
          <p:cNvPr id="4" name="Content Placeholder 3">
            <a:extLst>
              <a:ext uri="{FF2B5EF4-FFF2-40B4-BE49-F238E27FC236}">
                <a16:creationId xmlns:a16="http://schemas.microsoft.com/office/drawing/2014/main" id="{E61A8699-1762-4F46-9FA5-9D5DA755068C}"/>
              </a:ext>
            </a:extLst>
          </p:cNvPr>
          <p:cNvGraphicFramePr>
            <a:graphicFrameLocks noGrp="1"/>
          </p:cNvGraphicFramePr>
          <p:nvPr>
            <p:ph idx="1"/>
            <p:extLst>
              <p:ext uri="{D42A27DB-BD31-4B8C-83A1-F6EECF244321}">
                <p14:modId xmlns:p14="http://schemas.microsoft.com/office/powerpoint/2010/main" val="1397398250"/>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7" y="2119673"/>
          <a:ext cx="10963656" cy="4057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302864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2A76-F954-F5A3-C540-18245E2D4E42}"/>
              </a:ext>
            </a:extLst>
          </p:cNvPr>
          <p:cNvSpPr>
            <a:spLocks noGrp="1"/>
          </p:cNvSpPr>
          <p:nvPr>
            <p:ph type="ctrTitle"/>
          </p:nvPr>
        </p:nvSpPr>
        <p:spPr>
          <a:xfrm>
            <a:off x="612648" y="1417671"/>
            <a:ext cx="7909560" cy="4754529"/>
          </a:xfrm>
        </p:spPr>
        <p:txBody>
          <a:bodyPr anchor="b">
            <a:normAutofit/>
          </a:bodyPr>
          <a:lstStyle/>
          <a:p>
            <a:r>
              <a:rPr lang="en-US"/>
              <a:t>Workflow Visualization</a:t>
            </a:r>
          </a:p>
        </p:txBody>
      </p:sp>
    </p:spTree>
    <p:extLst>
      <p:ext uri="{BB962C8B-B14F-4D97-AF65-F5344CB8AC3E}">
        <p14:creationId xmlns:p14="http://schemas.microsoft.com/office/powerpoint/2010/main" val="5011472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517D3-C8D2-4F0C-3232-25FFFF686093}"/>
              </a:ext>
            </a:extLst>
          </p:cNvPr>
          <p:cNvSpPr>
            <a:spLocks noGrp="1"/>
          </p:cNvSpPr>
          <p:nvPr>
            <p:ph type="title"/>
          </p:nvPr>
        </p:nvSpPr>
        <p:spPr>
          <a:xfrm>
            <a:off x="612647" y="709099"/>
            <a:ext cx="3956305" cy="891101"/>
          </a:xfrm>
        </p:spPr>
        <p:txBody>
          <a:bodyPr anchor="b">
            <a:normAutofit/>
          </a:bodyPr>
          <a:lstStyle/>
          <a:p>
            <a:r>
              <a:rPr lang="en-US" sz="2700"/>
              <a:t>SAS to Delta Table Workflow</a:t>
            </a:r>
          </a:p>
        </p:txBody>
      </p:sp>
      <p:pic>
        <p:nvPicPr>
          <p:cNvPr id="5" name="Content Placeholder 4" descr="Abstract digital LED screen concept with defocused lights">
            <a:extLst>
              <a:ext uri="{FF2B5EF4-FFF2-40B4-BE49-F238E27FC236}">
                <a16:creationId xmlns:a16="http://schemas.microsoft.com/office/drawing/2014/main" id="{0ABA7E1A-AF5F-4E0B-B197-2120B9D5E974}"/>
              </a:ext>
            </a:extLst>
          </p:cNvPr>
          <p:cNvPicPr>
            <a:picLocks noGrp="1" noChangeAspect="1"/>
          </p:cNvPicPr>
          <p:nvPr>
            <p:ph type="pic" sz="quarter" idx="15"/>
          </p:nvPr>
        </p:nvPicPr>
        <p:blipFill>
          <a:blip r:embed="rId3"/>
          <a:srcRect l="6604" r="-1" b="-1"/>
          <a:stretch>
            <a:fillRect/>
          </a:stretch>
        </p:blipFill>
        <p:spPr>
          <a:xfrm>
            <a:off x="986599" y="2480792"/>
            <a:ext cx="4224528" cy="3392424"/>
          </a:xfrm>
          <a:prstGeom prst="rect">
            <a:avLst/>
          </a:prstGeom>
          <a:noFill/>
        </p:spPr>
      </p:pic>
      <p:sp>
        <p:nvSpPr>
          <p:cNvPr id="4" name="Content Placeholder 3">
            <a:extLst>
              <a:ext uri="{FF2B5EF4-FFF2-40B4-BE49-F238E27FC236}">
                <a16:creationId xmlns:a16="http://schemas.microsoft.com/office/drawing/2014/main" id="{5052E1AB-E6B8-1FA1-05B7-378766A523D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5999" y="732155"/>
            <a:ext cx="5486401" cy="5405377"/>
          </a:xfrm>
        </p:spPr>
        <p:txBody>
          <a:bodyPr>
            <a:normAutofit/>
          </a:bodyPr>
          <a:lstStyle/>
          <a:p>
            <a:pPr marL="0" indent="0">
              <a:spcBef>
                <a:spcPts val="2500"/>
              </a:spcBef>
              <a:buFont typeface="Arial" panose="020B0604020202020204" pitchFamily="34" charset="0"/>
              <a:buNone/>
            </a:pPr>
            <a:r>
              <a:rPr lang="en-US" b="1"/>
              <a:t>Data Export from SAS</a:t>
            </a:r>
          </a:p>
          <a:p>
            <a:pPr marL="0" lvl="1" indent="0">
              <a:buFont typeface="Arial" panose="020B0604020202020204" pitchFamily="34" charset="0"/>
              <a:buNone/>
            </a:pPr>
            <a:r>
              <a:t>Data is exported from SAS in formats like .sas7bdat, JSON, or CSV for compatibility with Databricks.</a:t>
            </a:r>
            <a:endParaRPr lang="en-US"/>
          </a:p>
          <a:p>
            <a:pPr marL="0" indent="0">
              <a:spcBef>
                <a:spcPts val="2500"/>
              </a:spcBef>
              <a:buFont typeface="Arial" panose="020B0604020202020204" pitchFamily="34" charset="0"/>
              <a:buNone/>
            </a:pPr>
            <a:r>
              <a:rPr lang="en-US" b="1"/>
              <a:t>Data Upload to Storage</a:t>
            </a:r>
          </a:p>
          <a:p>
            <a:pPr marL="0" lvl="1" indent="0">
              <a:buFont typeface="Arial" panose="020B0604020202020204" pitchFamily="34" charset="0"/>
              <a:buNone/>
            </a:pPr>
            <a:r>
              <a:t>Exported data is uploaded to DBFS or Volumes acting as intermediate or persistent storage within Databricks.</a:t>
            </a:r>
            <a:endParaRPr lang="en-US"/>
          </a:p>
          <a:p>
            <a:pPr marL="0" indent="0">
              <a:spcBef>
                <a:spcPts val="2500"/>
              </a:spcBef>
              <a:buFont typeface="Arial" panose="020B0604020202020204" pitchFamily="34" charset="0"/>
              <a:buNone/>
            </a:pPr>
            <a:r>
              <a:rPr lang="en-US" b="1"/>
              <a:t>Spark Data Processing</a:t>
            </a:r>
          </a:p>
          <a:p>
            <a:pPr marL="0" lvl="1" indent="0">
              <a:buFont typeface="Arial" panose="020B0604020202020204" pitchFamily="34" charset="0"/>
              <a:buNone/>
            </a:pPr>
            <a:r>
              <a:t>Spark reads and processes the uploaded data into a structured format suitable for analytics within Databricks.</a:t>
            </a:r>
            <a:endParaRPr lang="en-US"/>
          </a:p>
          <a:p>
            <a:pPr marL="0" indent="0">
              <a:spcBef>
                <a:spcPts val="2500"/>
              </a:spcBef>
              <a:buFont typeface="Arial" panose="020B0604020202020204" pitchFamily="34" charset="0"/>
              <a:buNone/>
            </a:pPr>
            <a:r>
              <a:rPr lang="en-US" b="1"/>
              <a:t>Writing to Delta Table</a:t>
            </a:r>
          </a:p>
          <a:p>
            <a:pPr marL="0" lvl="1" indent="0">
              <a:buFont typeface="Arial" panose="020B0604020202020204" pitchFamily="34" charset="0"/>
              <a:buNone/>
            </a:pPr>
            <a:r>
              <a:t>Processed data is written into Delta Tables for optimized querying and scalable analytics workflows.</a:t>
            </a:r>
            <a:endParaRPr lang="en-US"/>
          </a:p>
        </p:txBody>
      </p:sp>
    </p:spTree>
    <p:extLst>
      <p:ext uri="{BB962C8B-B14F-4D97-AF65-F5344CB8AC3E}">
        <p14:creationId xmlns:p14="http://schemas.microsoft.com/office/powerpoint/2010/main" val="27218791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99ED26-B189-4BA1-99D0-1112D8C2F106}">
  <ds:schemaRefs>
    <ds:schemaRef ds:uri="http://purl.org/dc/elements/1.1/"/>
    <ds:schemaRef ds:uri="http://schemas.microsoft.com/office/2006/documentManagement/types"/>
    <ds:schemaRef ds:uri="http://schemas.microsoft.com/office/infopath/2007/PartnerControls"/>
    <ds:schemaRef ds:uri="http://www.w3.org/XML/1998/namespace"/>
    <ds:schemaRef ds:uri="230e9df3-be65-4c73-a93b-d1236ebd677e"/>
    <ds:schemaRef ds:uri="http://schemas.microsoft.com/sharepoint/v3"/>
    <ds:schemaRef ds:uri="http://purl.org/dc/dcmitype/"/>
    <ds:schemaRef ds:uri="71af3243-3dd4-4a8d-8c0d-dd76da1f02a5"/>
    <ds:schemaRef ds:uri="http://purl.org/dc/terms/"/>
    <ds:schemaRef ds:uri="http://schemas.openxmlformats.org/package/2006/metadata/core-properties"/>
    <ds:schemaRef ds:uri="16c05727-aa75-4e4a-9b5f-8a80a1165891"/>
    <ds:schemaRef ds:uri="http://schemas.microsoft.com/office/2006/metadata/properties"/>
  </ds:schemaRefs>
</ds:datastoreItem>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628</TotalTime>
  <Words>5</Words>
  <Application>Microsoft Office PowerPoint</Application>
  <PresentationFormat>Widescreen</PresentationFormat>
  <Paragraphs>3</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Solace</vt:lpstr>
      <vt:lpstr>Uploading Data from SAS to Databricks</vt:lpstr>
      <vt:lpstr>Overview</vt:lpstr>
      <vt:lpstr>Agenda</vt:lpstr>
      <vt:lpstr>Data Format Comparison</vt:lpstr>
      <vt:lpstr>SAS Datasets vs JSON</vt:lpstr>
      <vt:lpstr>Storage Options in Databricks</vt:lpstr>
      <vt:lpstr>DBFS, Volumes, and Tables</vt:lpstr>
      <vt:lpstr>Implementation Examples</vt:lpstr>
      <vt:lpstr>SAS Code for Uploading Data</vt:lpstr>
      <vt:lpstr>Efficiency Considerations</vt:lpstr>
      <vt:lpstr>File Format, Storage, and Workflow</vt:lpstr>
      <vt:lpstr>Workflow Visualization</vt:lpstr>
      <vt:lpstr>SAS to Delta Table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2025-05-21T23:03:00Z</dcterms:created>
  <dcterms:modified xsi:type="dcterms:W3CDTF">2025-10-07T14:58:12Z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